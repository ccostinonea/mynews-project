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0" r:id="rId13"/>
    <p:sldId id="268" r:id="rId14"/>
    <p:sldId id="269" r:id="rId15"/>
    <p:sldId id="266" r:id="rId16"/>
    <p:sldId id="267" r:id="rId1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922" y="11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10" dirty="0"/>
              <a:t>Autor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50" spc="-15" baseline="11111" dirty="0"/>
              <a:t>POLITEHNICA</a:t>
            </a:r>
            <a:r>
              <a:rPr sz="750" spc="120" baseline="11111" dirty="0"/>
              <a:t> </a:t>
            </a:r>
            <a:r>
              <a:rPr sz="750" spc="-44" baseline="11111" dirty="0"/>
              <a:t>Bucures</a:t>
            </a:r>
            <a:r>
              <a:rPr sz="500" spc="-30" dirty="0"/>
              <a:t>,</a:t>
            </a:r>
            <a:r>
              <a:rPr sz="500" spc="-55" dirty="0"/>
              <a:t> </a:t>
            </a:r>
            <a:r>
              <a:rPr sz="750" spc="-37" baseline="11111" dirty="0"/>
              <a:t>ti</a:t>
            </a:r>
            <a:endParaRPr sz="750" baseline="11111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10" dirty="0"/>
              <a:t>Autor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50" spc="-15" baseline="11111" dirty="0"/>
              <a:t>POLITEHNICA</a:t>
            </a:r>
            <a:r>
              <a:rPr sz="750" spc="120" baseline="11111" dirty="0"/>
              <a:t> </a:t>
            </a:r>
            <a:r>
              <a:rPr sz="750" spc="-44" baseline="11111" dirty="0"/>
              <a:t>Bucures</a:t>
            </a:r>
            <a:r>
              <a:rPr sz="500" spc="-30" dirty="0"/>
              <a:t>,</a:t>
            </a:r>
            <a:r>
              <a:rPr sz="500" spc="-55" dirty="0"/>
              <a:t> </a:t>
            </a:r>
            <a:r>
              <a:rPr sz="750" spc="-37" baseline="11111" dirty="0"/>
              <a:t>ti</a:t>
            </a:r>
            <a:endParaRPr sz="750" baseline="11111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10" dirty="0"/>
              <a:t>Autor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50" spc="-15" baseline="11111" dirty="0"/>
              <a:t>POLITEHNICA</a:t>
            </a:r>
            <a:r>
              <a:rPr sz="750" spc="120" baseline="11111" dirty="0"/>
              <a:t> </a:t>
            </a:r>
            <a:r>
              <a:rPr sz="750" spc="-44" baseline="11111" dirty="0"/>
              <a:t>Bucures</a:t>
            </a:r>
            <a:r>
              <a:rPr sz="500" spc="-30" dirty="0"/>
              <a:t>,</a:t>
            </a:r>
            <a:r>
              <a:rPr sz="500" spc="-55" dirty="0"/>
              <a:t> </a:t>
            </a:r>
            <a:r>
              <a:rPr sz="750" spc="-37" baseline="11111" dirty="0"/>
              <a:t>ti</a:t>
            </a:r>
            <a:endParaRPr sz="750" baseline="11111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10" dirty="0"/>
              <a:t>Autor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50" spc="-15" baseline="11111" dirty="0"/>
              <a:t>POLITEHNICA</a:t>
            </a:r>
            <a:r>
              <a:rPr sz="750" spc="120" baseline="11111" dirty="0"/>
              <a:t> </a:t>
            </a:r>
            <a:r>
              <a:rPr sz="750" spc="-44" baseline="11111" dirty="0"/>
              <a:t>Bucures</a:t>
            </a:r>
            <a:r>
              <a:rPr sz="500" spc="-30" dirty="0"/>
              <a:t>,</a:t>
            </a:r>
            <a:r>
              <a:rPr sz="500" spc="-55" dirty="0"/>
              <a:t> </a:t>
            </a:r>
            <a:r>
              <a:rPr sz="750" spc="-37" baseline="11111" dirty="0"/>
              <a:t>ti</a:t>
            </a:r>
            <a:endParaRPr sz="750" baseline="11111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10" dirty="0"/>
              <a:t>Autor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50" spc="-15" baseline="11111" dirty="0"/>
              <a:t>POLITEHNICA</a:t>
            </a:r>
            <a:r>
              <a:rPr sz="750" spc="120" baseline="11111" dirty="0"/>
              <a:t> </a:t>
            </a:r>
            <a:r>
              <a:rPr sz="750" spc="-44" baseline="11111" dirty="0"/>
              <a:t>Bucures</a:t>
            </a:r>
            <a:r>
              <a:rPr sz="500" spc="-30" dirty="0"/>
              <a:t>,</a:t>
            </a:r>
            <a:r>
              <a:rPr sz="500" spc="-55" dirty="0"/>
              <a:t> </a:t>
            </a:r>
            <a:r>
              <a:rPr sz="750" spc="-37" baseline="11111" dirty="0"/>
              <a:t>ti</a:t>
            </a:r>
            <a:endParaRPr sz="750" baseline="11111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268605"/>
          </a:xfrm>
          <a:custGeom>
            <a:avLst/>
            <a:gdLst/>
            <a:ahLst/>
            <a:cxnLst/>
            <a:rect l="l" t="t" r="r" b="b"/>
            <a:pathLst>
              <a:path w="4608195" h="268605">
                <a:moveTo>
                  <a:pt x="4608004" y="0"/>
                </a:moveTo>
                <a:lnTo>
                  <a:pt x="0" y="0"/>
                </a:lnTo>
                <a:lnTo>
                  <a:pt x="0" y="268465"/>
                </a:lnTo>
                <a:lnTo>
                  <a:pt x="4608004" y="268465"/>
                </a:lnTo>
                <a:lnTo>
                  <a:pt x="4608004" y="0"/>
                </a:lnTo>
                <a:close/>
              </a:path>
            </a:pathLst>
          </a:custGeom>
          <a:solidFill>
            <a:srgbClr val="2887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36130"/>
            <a:ext cx="805180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2394" y="1178115"/>
            <a:ext cx="3590925" cy="77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5854" y="3349927"/>
            <a:ext cx="175259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10" dirty="0"/>
              <a:t>Autor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11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50" spc="-15" baseline="11111" dirty="0"/>
              <a:t>POLITEHNICA</a:t>
            </a:r>
            <a:r>
              <a:rPr sz="750" spc="120" baseline="11111" dirty="0"/>
              <a:t> </a:t>
            </a:r>
            <a:r>
              <a:rPr sz="750" spc="-44" baseline="11111" dirty="0"/>
              <a:t>Bucures</a:t>
            </a:r>
            <a:r>
              <a:rPr sz="500" spc="-30" dirty="0"/>
              <a:t>,</a:t>
            </a:r>
            <a:r>
              <a:rPr sz="500" spc="-55" dirty="0"/>
              <a:t> </a:t>
            </a:r>
            <a:r>
              <a:rPr sz="750" spc="-37" baseline="11111" dirty="0"/>
              <a:t>ti</a:t>
            </a:r>
            <a:endParaRPr sz="750" baseline="11111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994" y="1122794"/>
            <a:ext cx="3888104" cy="230191"/>
          </a:xfrm>
          <a:prstGeom prst="rect">
            <a:avLst/>
          </a:prstGeom>
          <a:solidFill>
            <a:srgbClr val="2887BB"/>
          </a:solidFill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lang="en-US" sz="1100" dirty="0" err="1">
                <a:solidFill>
                  <a:schemeClr val="bg1"/>
                </a:solidFill>
              </a:rPr>
              <a:t>MyNews</a:t>
            </a:r>
            <a:r>
              <a:rPr lang="en-US" sz="1100" dirty="0">
                <a:solidFill>
                  <a:schemeClr val="bg1"/>
                </a:solidFill>
              </a:rPr>
              <a:t> - </a:t>
            </a:r>
            <a:r>
              <a:rPr lang="en-US" sz="1100" dirty="0" err="1">
                <a:solidFill>
                  <a:schemeClr val="bg1"/>
                </a:solidFill>
              </a:rPr>
              <a:t>Sistem</a:t>
            </a:r>
            <a:r>
              <a:rPr lang="en-US" sz="1100" dirty="0">
                <a:solidFill>
                  <a:schemeClr val="bg1"/>
                </a:solidFill>
              </a:rPr>
              <a:t> de </a:t>
            </a:r>
            <a:r>
              <a:rPr lang="en-US" sz="1100" dirty="0" err="1">
                <a:solidFill>
                  <a:schemeClr val="bg1"/>
                </a:solidFill>
              </a:rPr>
              <a:t>Știri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Personalizate</a:t>
            </a:r>
            <a:r>
              <a:rPr lang="en-US" sz="1100" dirty="0">
                <a:solidFill>
                  <a:schemeClr val="bg1"/>
                </a:solidFill>
              </a:rPr>
              <a:t> cu AI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650" y="2339975"/>
            <a:ext cx="2362200" cy="9380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lang="it-IT" sz="800" b="1" dirty="0"/>
              <a:t>Autori:</a:t>
            </a:r>
            <a:r>
              <a:rPr lang="it-IT" sz="800" dirty="0"/>
              <a:t>Iorgu Florentin Lucian</a:t>
            </a:r>
          </a:p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lang="it-IT" sz="800" dirty="0"/>
              <a:t>            Nonea Costin                                                         </a:t>
            </a:r>
          </a:p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lang="it-IT" sz="800" dirty="0"/>
              <a:t>            Văduva David</a:t>
            </a:r>
          </a:p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lang="en-US" sz="800" b="1" dirty="0"/>
              <a:t>Grupa:</a:t>
            </a:r>
            <a:r>
              <a:rPr lang="en-US" sz="800" dirty="0"/>
              <a:t> 441C </a:t>
            </a:r>
          </a:p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lang="it-IT" sz="800" b="1" dirty="0"/>
              <a:t>Coordonator:</a:t>
            </a:r>
            <a:r>
              <a:rPr lang="it-IT" sz="800" dirty="0"/>
              <a:t> Curavale Daniel</a:t>
            </a:r>
          </a:p>
          <a:p>
            <a:pPr algn="l">
              <a:lnSpc>
                <a:spcPct val="100000"/>
              </a:lnSpc>
              <a:spcBef>
                <a:spcPts val="95"/>
              </a:spcBef>
            </a:pPr>
            <a:endParaRPr sz="800" dirty="0">
              <a:latin typeface="Arial"/>
              <a:cs typeface="Arial"/>
            </a:endParaRPr>
          </a:p>
          <a:p>
            <a:pPr algn="l">
              <a:lnSpc>
                <a:spcPct val="100000"/>
              </a:lnSpc>
            </a:pPr>
            <a:r>
              <a:rPr lang="en-US" sz="800" dirty="0"/>
              <a:t>POLITEHNICA </a:t>
            </a:r>
            <a:r>
              <a:rPr lang="en-US" sz="800" dirty="0" err="1"/>
              <a:t>Bucuresti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50" spc="-15" baseline="11111" dirty="0"/>
              <a:t>POLITEHNICA</a:t>
            </a:r>
            <a:r>
              <a:rPr sz="750" spc="120" baseline="11111" dirty="0"/>
              <a:t> </a:t>
            </a:r>
            <a:r>
              <a:rPr sz="750" spc="-44" baseline="11111" dirty="0" err="1"/>
              <a:t>Bucures</a:t>
            </a:r>
            <a:r>
              <a:rPr sz="750" spc="-37" baseline="11111" dirty="0" err="1"/>
              <a:t>ti</a:t>
            </a:r>
            <a:endParaRPr sz="750" baseline="11111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Cuprins</a:t>
            </a:r>
          </a:p>
        </p:txBody>
      </p:sp>
      <p:sp>
        <p:nvSpPr>
          <p:cNvPr id="3" name="object 3"/>
          <p:cNvSpPr/>
          <p:nvPr/>
        </p:nvSpPr>
        <p:spPr>
          <a:xfrm>
            <a:off x="356692" y="95836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216" y="0"/>
                </a:moveTo>
                <a:lnTo>
                  <a:pt x="0" y="0"/>
                </a:lnTo>
                <a:lnTo>
                  <a:pt x="0" y="104216"/>
                </a:lnTo>
                <a:lnTo>
                  <a:pt x="104216" y="104216"/>
                </a:lnTo>
                <a:lnTo>
                  <a:pt x="104216" y="0"/>
                </a:lnTo>
                <a:close/>
              </a:path>
            </a:pathLst>
          </a:custGeom>
          <a:solidFill>
            <a:srgbClr val="2887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1474" y="930134"/>
            <a:ext cx="18573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700" spc="16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lang="en-US" sz="800" dirty="0" err="1">
                <a:hlinkClick r:id="rId2" action="ppaction://hlinksldjump"/>
              </a:rPr>
              <a:t>Problema</a:t>
            </a:r>
            <a:r>
              <a:rPr lang="en-US" sz="800" dirty="0">
                <a:hlinkClick r:id="rId2" action="ppaction://hlinksldjump"/>
              </a:rPr>
              <a:t> </a:t>
            </a:r>
            <a:r>
              <a:rPr lang="en-US" sz="800" dirty="0" err="1">
                <a:hlinkClick r:id="rId2" action="ppaction://hlinksldjump"/>
              </a:rPr>
              <a:t>și</a:t>
            </a:r>
            <a:r>
              <a:rPr lang="en-US" sz="800" dirty="0">
                <a:hlinkClick r:id="rId2" action="ppaction://hlinksldjump"/>
              </a:rPr>
              <a:t> </a:t>
            </a:r>
            <a:r>
              <a:rPr lang="en-US" sz="800" dirty="0" err="1">
                <a:hlinkClick r:id="rId2" action="ppaction://hlinksldjump"/>
              </a:rPr>
              <a:t>Motivația</a:t>
            </a:r>
            <a:r>
              <a:rPr lang="en-US" sz="800" dirty="0">
                <a:hlinkClick r:id="rId2" action="ppaction://hlinksldjump"/>
              </a:rPr>
              <a:t> </a:t>
            </a:r>
            <a:r>
              <a:rPr lang="en-US" sz="800" dirty="0" err="1">
                <a:hlinkClick r:id="rId2" action="ppaction://hlinksldjump"/>
              </a:rPr>
              <a:t>proiectului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6692" y="141890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216" y="0"/>
                </a:moveTo>
                <a:lnTo>
                  <a:pt x="0" y="0"/>
                </a:lnTo>
                <a:lnTo>
                  <a:pt x="0" y="104216"/>
                </a:lnTo>
                <a:lnTo>
                  <a:pt x="104216" y="104216"/>
                </a:lnTo>
                <a:lnTo>
                  <a:pt x="104216" y="0"/>
                </a:lnTo>
                <a:close/>
              </a:path>
            </a:pathLst>
          </a:custGeom>
          <a:solidFill>
            <a:srgbClr val="2887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1474" y="1390674"/>
            <a:ext cx="23145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700" spc="175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lang="en-US" sz="800" dirty="0" err="1">
                <a:hlinkClick r:id="rId3" action="ppaction://hlinksldjump"/>
              </a:rPr>
              <a:t>Propunerea</a:t>
            </a:r>
            <a:r>
              <a:rPr lang="en-US" sz="800" dirty="0">
                <a:hlinkClick r:id="rId3" action="ppaction://hlinksldjump"/>
              </a:rPr>
              <a:t> </a:t>
            </a:r>
            <a:r>
              <a:rPr lang="en-US" sz="800" dirty="0" err="1">
                <a:hlinkClick r:id="rId3" action="ppaction://hlinksldjump"/>
              </a:rPr>
              <a:t>implementării</a:t>
            </a:r>
            <a:r>
              <a:rPr lang="en-US" sz="800" dirty="0">
                <a:hlinkClick r:id="rId3" action="ppaction://hlinksldjump"/>
              </a:rPr>
              <a:t> </a:t>
            </a:r>
            <a:r>
              <a:rPr lang="en-US" sz="800" dirty="0" err="1">
                <a:hlinkClick r:id="rId3" action="ppaction://hlinksldjump"/>
              </a:rPr>
              <a:t>tehnice</a:t>
            </a:r>
            <a:r>
              <a:rPr lang="en-US" sz="800" dirty="0">
                <a:hlinkClick r:id="rId3" action="ppaction://hlinksldjump"/>
              </a:rPr>
              <a:t> / </a:t>
            </a:r>
            <a:r>
              <a:rPr lang="en-US" sz="800" dirty="0" err="1">
                <a:hlinkClick r:id="rId3" action="ppaction://hlinksldjump"/>
              </a:rPr>
              <a:t>Metoda</a:t>
            </a:r>
            <a:r>
              <a:rPr lang="en-US" sz="800" dirty="0">
                <a:hlinkClick r:id="rId3" action="ppaction://hlinksldjump"/>
              </a:rPr>
              <a:t> 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6692" y="187944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216" y="0"/>
                </a:moveTo>
                <a:lnTo>
                  <a:pt x="0" y="0"/>
                </a:lnTo>
                <a:lnTo>
                  <a:pt x="0" y="104216"/>
                </a:lnTo>
                <a:lnTo>
                  <a:pt x="104216" y="104216"/>
                </a:lnTo>
                <a:lnTo>
                  <a:pt x="104216" y="0"/>
                </a:lnTo>
                <a:close/>
              </a:path>
            </a:pathLst>
          </a:custGeom>
          <a:solidFill>
            <a:srgbClr val="2887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1474" y="1851227"/>
            <a:ext cx="23907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700" spc="43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800" dirty="0">
                <a:hlinkClick r:id="rId4" action="ppaction://hlinksldjump"/>
              </a:rPr>
              <a:t>State of the art / </a:t>
            </a:r>
            <a:r>
              <a:rPr lang="en-US" sz="800" dirty="0" err="1">
                <a:hlinkClick r:id="rId4" action="ppaction://hlinksldjump"/>
              </a:rPr>
              <a:t>Stadiul</a:t>
            </a:r>
            <a:r>
              <a:rPr lang="en-US" sz="800" dirty="0">
                <a:hlinkClick r:id="rId4" action="ppaction://hlinksldjump"/>
              </a:rPr>
              <a:t> actual al </a:t>
            </a:r>
            <a:r>
              <a:rPr lang="en-US" sz="800" dirty="0" err="1">
                <a:hlinkClick r:id="rId4" action="ppaction://hlinksldjump"/>
              </a:rPr>
              <a:t>cunoașterii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6692" y="2340000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216" y="0"/>
                </a:moveTo>
                <a:lnTo>
                  <a:pt x="0" y="0"/>
                </a:lnTo>
                <a:lnTo>
                  <a:pt x="0" y="104216"/>
                </a:lnTo>
                <a:lnTo>
                  <a:pt x="104216" y="104216"/>
                </a:lnTo>
                <a:lnTo>
                  <a:pt x="104216" y="0"/>
                </a:lnTo>
                <a:close/>
              </a:path>
            </a:pathLst>
          </a:custGeom>
          <a:solidFill>
            <a:srgbClr val="2887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1475" y="2311767"/>
            <a:ext cx="17049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700" spc="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800" dirty="0" err="1">
                <a:hlinkClick r:id="rId5" action="ppaction://hlinksldjump"/>
              </a:rPr>
              <a:t>Experimente</a:t>
            </a:r>
            <a:r>
              <a:rPr lang="en-US" sz="800" dirty="0">
                <a:hlinkClick r:id="rId5" action="ppaction://hlinksldjump"/>
              </a:rPr>
              <a:t> </a:t>
            </a:r>
            <a:r>
              <a:rPr lang="en-US" sz="800" dirty="0" err="1">
                <a:hlinkClick r:id="rId5" action="ppaction://hlinksldjump"/>
              </a:rPr>
              <a:t>și</a:t>
            </a:r>
            <a:r>
              <a:rPr lang="en-US" sz="800" dirty="0">
                <a:hlinkClick r:id="rId5" action="ppaction://hlinksldjump"/>
              </a:rPr>
              <a:t> </a:t>
            </a:r>
            <a:r>
              <a:rPr lang="en-US" sz="800" dirty="0" err="1">
                <a:hlinkClick r:id="rId5" action="ppaction://hlinksldjump"/>
              </a:rPr>
              <a:t>Rezultate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8482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18"/>
                </a:lnTo>
                <a:lnTo>
                  <a:pt x="4608004" y="107518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2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C3B1F694-5ABA-0CAC-1F2E-959AA9F67431}"/>
              </a:ext>
            </a:extLst>
          </p:cNvPr>
          <p:cNvSpPr/>
          <p:nvPr/>
        </p:nvSpPr>
        <p:spPr>
          <a:xfrm>
            <a:off x="356691" y="2693480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216" y="0"/>
                </a:moveTo>
                <a:lnTo>
                  <a:pt x="0" y="0"/>
                </a:lnTo>
                <a:lnTo>
                  <a:pt x="0" y="104216"/>
                </a:lnTo>
                <a:lnTo>
                  <a:pt x="104216" y="104216"/>
                </a:lnTo>
                <a:lnTo>
                  <a:pt x="104216" y="0"/>
                </a:lnTo>
                <a:close/>
              </a:path>
            </a:pathLst>
          </a:custGeom>
          <a:solidFill>
            <a:srgbClr val="2887B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619DEEFA-DDA7-46D8-0F74-C5BA6E2A53EA}"/>
              </a:ext>
            </a:extLst>
          </p:cNvPr>
          <p:cNvSpPr txBox="1"/>
          <p:nvPr/>
        </p:nvSpPr>
        <p:spPr>
          <a:xfrm>
            <a:off x="371003" y="2662962"/>
            <a:ext cx="17049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700" spc="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800" dirty="0" err="1">
                <a:hlinkClick r:id="rId6" action="ppaction://hlinksldjump"/>
              </a:rPr>
              <a:t>Bibliografie</a:t>
            </a:r>
            <a:endParaRPr sz="8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93" y="1275193"/>
            <a:ext cx="4040504" cy="498475"/>
            <a:chOff x="309193" y="1275193"/>
            <a:chExt cx="4040504" cy="498475"/>
          </a:xfrm>
        </p:grpSpPr>
        <p:sp>
          <p:nvSpPr>
            <p:cNvPr id="3" name="object 3"/>
            <p:cNvSpPr/>
            <p:nvPr/>
          </p:nvSpPr>
          <p:spPr>
            <a:xfrm>
              <a:off x="309193" y="1275193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9994" y="1338454"/>
              <a:ext cx="3989704" cy="435609"/>
            </a:xfrm>
            <a:custGeom>
              <a:avLst/>
              <a:gdLst/>
              <a:ahLst/>
              <a:cxnLst/>
              <a:rect l="l" t="t" r="r" b="b"/>
              <a:pathLst>
                <a:path w="3989704" h="435610">
                  <a:moveTo>
                    <a:pt x="3989652" y="0"/>
                  </a:moveTo>
                  <a:lnTo>
                    <a:pt x="0" y="0"/>
                  </a:lnTo>
                  <a:lnTo>
                    <a:pt x="0" y="435203"/>
                  </a:lnTo>
                  <a:lnTo>
                    <a:pt x="3989652" y="435203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3" y="1319617"/>
              <a:ext cx="3989704" cy="403860"/>
            </a:xfrm>
            <a:custGeom>
              <a:avLst/>
              <a:gdLst/>
              <a:ahLst/>
              <a:cxnLst/>
              <a:rect l="l" t="t" r="r" b="b"/>
              <a:pathLst>
                <a:path w="3989704" h="403860">
                  <a:moveTo>
                    <a:pt x="3989652" y="0"/>
                  </a:moveTo>
                  <a:lnTo>
                    <a:pt x="0" y="0"/>
                  </a:lnTo>
                  <a:lnTo>
                    <a:pt x="0" y="352439"/>
                  </a:lnTo>
                  <a:lnTo>
                    <a:pt x="4008" y="372164"/>
                  </a:lnTo>
                  <a:lnTo>
                    <a:pt x="14922" y="388317"/>
                  </a:lnTo>
                  <a:lnTo>
                    <a:pt x="31075" y="399231"/>
                  </a:lnTo>
                  <a:lnTo>
                    <a:pt x="50800" y="403239"/>
                  </a:lnTo>
                  <a:lnTo>
                    <a:pt x="3938852" y="403239"/>
                  </a:lnTo>
                  <a:lnTo>
                    <a:pt x="3958576" y="399231"/>
                  </a:lnTo>
                  <a:lnTo>
                    <a:pt x="3974729" y="388317"/>
                  </a:lnTo>
                  <a:lnTo>
                    <a:pt x="3985644" y="372164"/>
                  </a:lnTo>
                  <a:lnTo>
                    <a:pt x="3989652" y="35243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9994" y="1338454"/>
            <a:ext cx="3989704" cy="239809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019175">
              <a:lnSpc>
                <a:spcPct val="100000"/>
              </a:lnSpc>
              <a:spcBef>
                <a:spcPts val="550"/>
              </a:spcBef>
            </a:pPr>
            <a:r>
              <a:rPr lang="en-US" sz="1100" dirty="0" err="1"/>
              <a:t>Problema</a:t>
            </a:r>
            <a:r>
              <a:rPr lang="en-US" sz="1100" dirty="0"/>
              <a:t> </a:t>
            </a:r>
            <a:r>
              <a:rPr lang="en-US" sz="1100" dirty="0" err="1"/>
              <a:t>și</a:t>
            </a:r>
            <a:r>
              <a:rPr lang="en-US" sz="1100" dirty="0"/>
              <a:t> </a:t>
            </a:r>
            <a:r>
              <a:rPr lang="en-US" sz="1100" dirty="0" err="1"/>
              <a:t>Motivația</a:t>
            </a:r>
            <a:r>
              <a:rPr lang="en-US" sz="1100" dirty="0"/>
              <a:t> </a:t>
            </a:r>
            <a:r>
              <a:rPr lang="en-US" sz="1100" dirty="0" err="1"/>
              <a:t>proiectului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3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36130"/>
            <a:ext cx="1875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Problema/Motivatia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proiectului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871524"/>
              </p:ext>
            </p:extLst>
          </p:nvPr>
        </p:nvGraphicFramePr>
        <p:xfrm>
          <a:off x="320293" y="894384"/>
          <a:ext cx="3967479" cy="1622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7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185">
                <a:tc>
                  <a:txBody>
                    <a:bodyPr/>
                    <a:lstStyle/>
                    <a:p>
                      <a:pPr marL="39370">
                        <a:lnSpc>
                          <a:spcPts val="555"/>
                        </a:lnSpc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288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9240">
                <a:tc>
                  <a:txBody>
                    <a:bodyPr/>
                    <a:lstStyle/>
                    <a:p>
                      <a:r>
                        <a:rPr lang="en-US" sz="800" b="1" dirty="0" err="1"/>
                        <a:t>Problema</a:t>
                      </a:r>
                      <a:r>
                        <a:rPr lang="en-US" sz="800" b="1" dirty="0"/>
                        <a:t>:</a:t>
                      </a: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/>
                        <a:t>Există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prea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multe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știri</a:t>
                      </a:r>
                      <a:r>
                        <a:rPr lang="en-US" sz="800" dirty="0"/>
                        <a:t> (</a:t>
                      </a:r>
                      <a:r>
                        <a:rPr lang="en-US" sz="800" dirty="0" err="1"/>
                        <a:t>supraîncărcare</a:t>
                      </a:r>
                      <a:r>
                        <a:rPr lang="en-US" sz="800" dirty="0"/>
                        <a:t>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Este </a:t>
                      </a:r>
                      <a:r>
                        <a:rPr lang="en-US" sz="800" dirty="0" err="1"/>
                        <a:t>greu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găsești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informația</a:t>
                      </a:r>
                      <a:r>
                        <a:rPr lang="en-US" sz="800" dirty="0"/>
                        <a:t> care </a:t>
                      </a:r>
                      <a:r>
                        <a:rPr lang="en-US" sz="800" dirty="0" err="1"/>
                        <a:t>te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interesează</a:t>
                      </a:r>
                      <a:r>
                        <a:rPr lang="en-US" sz="800" dirty="0"/>
                        <a:t> cu </a:t>
                      </a:r>
                      <a:r>
                        <a:rPr lang="en-US" sz="800" dirty="0" err="1"/>
                        <a:t>adevărat</a:t>
                      </a:r>
                      <a:r>
                        <a:rPr lang="en-US" sz="8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/>
                        <a:t>Filtrele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actuale</a:t>
                      </a:r>
                      <a:r>
                        <a:rPr lang="en-US" sz="800" dirty="0"/>
                        <a:t> sunt </a:t>
                      </a:r>
                      <a:r>
                        <a:rPr lang="en-US" sz="800" dirty="0" err="1"/>
                        <a:t>rigide</a:t>
                      </a:r>
                      <a:r>
                        <a:rPr lang="en-US" sz="800" dirty="0"/>
                        <a:t> (</a:t>
                      </a:r>
                      <a:r>
                        <a:rPr lang="en-US" sz="800" dirty="0" err="1"/>
                        <a:t>doar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categorii</a:t>
                      </a:r>
                      <a:r>
                        <a:rPr lang="en-US" sz="800" dirty="0"/>
                        <a:t> fixe).</a:t>
                      </a:r>
                    </a:p>
                    <a:p>
                      <a:endParaRPr lang="en-US" sz="800" b="1" dirty="0"/>
                    </a:p>
                    <a:p>
                      <a:endParaRPr lang="en-US" sz="800" b="1" dirty="0"/>
                    </a:p>
                    <a:p>
                      <a:r>
                        <a:rPr lang="en-US" sz="800" b="1" dirty="0" err="1"/>
                        <a:t>Soluția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MyNews</a:t>
                      </a:r>
                      <a:r>
                        <a:rPr lang="en-US" sz="800" b="1" dirty="0"/>
                        <a:t>:</a:t>
                      </a: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Un „</a:t>
                      </a:r>
                      <a:r>
                        <a:rPr lang="en-US" sz="800" dirty="0" err="1"/>
                        <a:t>asistent</a:t>
                      </a:r>
                      <a:r>
                        <a:rPr lang="en-US" sz="800" dirty="0"/>
                        <a:t> personal” care </a:t>
                      </a:r>
                      <a:r>
                        <a:rPr lang="en-US" sz="800" dirty="0" err="1"/>
                        <a:t>citește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știrile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în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locul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tău</a:t>
                      </a:r>
                      <a:r>
                        <a:rPr lang="en-US" sz="8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/>
                        <a:t>Selectează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doar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este</a:t>
                      </a:r>
                      <a:r>
                        <a:rPr lang="en-US" sz="800" dirty="0"/>
                        <a:t> relevant.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/>
                        <a:t>Rescrie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textul</a:t>
                      </a:r>
                      <a:r>
                        <a:rPr lang="en-US" sz="800" dirty="0"/>
                        <a:t> pe </a:t>
                      </a:r>
                      <a:r>
                        <a:rPr lang="en-US" sz="800" dirty="0" err="1"/>
                        <a:t>înțelesul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și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preferințele</a:t>
                      </a:r>
                      <a:r>
                        <a:rPr lang="en-US" sz="800" dirty="0"/>
                        <a:t> tale.</a:t>
                      </a:r>
                    </a:p>
                    <a:p>
                      <a:pPr marL="254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1905" y="3352800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18"/>
                </a:lnTo>
                <a:lnTo>
                  <a:pt x="4608004" y="107518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4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93" y="1275193"/>
            <a:ext cx="4040504" cy="498475"/>
            <a:chOff x="309193" y="1275193"/>
            <a:chExt cx="4040504" cy="498475"/>
          </a:xfrm>
        </p:grpSpPr>
        <p:sp>
          <p:nvSpPr>
            <p:cNvPr id="3" name="object 3"/>
            <p:cNvSpPr/>
            <p:nvPr/>
          </p:nvSpPr>
          <p:spPr>
            <a:xfrm>
              <a:off x="309193" y="1275193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9994" y="1338454"/>
              <a:ext cx="3989704" cy="435609"/>
            </a:xfrm>
            <a:custGeom>
              <a:avLst/>
              <a:gdLst/>
              <a:ahLst/>
              <a:cxnLst/>
              <a:rect l="l" t="t" r="r" b="b"/>
              <a:pathLst>
                <a:path w="3989704" h="435610">
                  <a:moveTo>
                    <a:pt x="3989652" y="0"/>
                  </a:moveTo>
                  <a:lnTo>
                    <a:pt x="0" y="0"/>
                  </a:lnTo>
                  <a:lnTo>
                    <a:pt x="0" y="435203"/>
                  </a:lnTo>
                  <a:lnTo>
                    <a:pt x="3989652" y="435203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3" y="1319617"/>
              <a:ext cx="3989704" cy="403860"/>
            </a:xfrm>
            <a:custGeom>
              <a:avLst/>
              <a:gdLst/>
              <a:ahLst/>
              <a:cxnLst/>
              <a:rect l="l" t="t" r="r" b="b"/>
              <a:pathLst>
                <a:path w="3989704" h="403860">
                  <a:moveTo>
                    <a:pt x="3989652" y="0"/>
                  </a:moveTo>
                  <a:lnTo>
                    <a:pt x="0" y="0"/>
                  </a:lnTo>
                  <a:lnTo>
                    <a:pt x="0" y="352439"/>
                  </a:lnTo>
                  <a:lnTo>
                    <a:pt x="4008" y="372164"/>
                  </a:lnTo>
                  <a:lnTo>
                    <a:pt x="14922" y="388317"/>
                  </a:lnTo>
                  <a:lnTo>
                    <a:pt x="31075" y="399231"/>
                  </a:lnTo>
                  <a:lnTo>
                    <a:pt x="50800" y="403239"/>
                  </a:lnTo>
                  <a:lnTo>
                    <a:pt x="3938852" y="403239"/>
                  </a:lnTo>
                  <a:lnTo>
                    <a:pt x="3958576" y="399231"/>
                  </a:lnTo>
                  <a:lnTo>
                    <a:pt x="3974729" y="388317"/>
                  </a:lnTo>
                  <a:lnTo>
                    <a:pt x="3985644" y="372164"/>
                  </a:lnTo>
                  <a:lnTo>
                    <a:pt x="3989652" y="35243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9994" y="1338454"/>
            <a:ext cx="3989704" cy="239809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50"/>
              </a:spcBef>
            </a:pPr>
            <a:r>
              <a:rPr lang="en-US" sz="1100" dirty="0" err="1"/>
              <a:t>Propunerea</a:t>
            </a:r>
            <a:r>
              <a:rPr lang="en-US" sz="1100" dirty="0"/>
              <a:t> </a:t>
            </a:r>
            <a:r>
              <a:rPr lang="en-US" sz="1100" dirty="0" err="1"/>
              <a:t>implementării</a:t>
            </a:r>
            <a:r>
              <a:rPr lang="en-US" sz="1100" dirty="0"/>
              <a:t> </a:t>
            </a:r>
            <a:r>
              <a:rPr lang="en-US" sz="1100" dirty="0" err="1"/>
              <a:t>tehnice</a:t>
            </a:r>
            <a:r>
              <a:rPr lang="en-US" sz="1100" dirty="0"/>
              <a:t> / </a:t>
            </a:r>
            <a:r>
              <a:rPr lang="en-US" sz="1100" dirty="0" err="1"/>
              <a:t>Metoda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5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36130"/>
            <a:ext cx="487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Metoda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328961"/>
              </p:ext>
            </p:extLst>
          </p:nvPr>
        </p:nvGraphicFramePr>
        <p:xfrm>
          <a:off x="323849" y="358776"/>
          <a:ext cx="3963987" cy="2926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3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340">
                <a:tc>
                  <a:txBody>
                    <a:bodyPr/>
                    <a:lstStyle/>
                    <a:p>
                      <a:pPr marL="39370">
                        <a:lnSpc>
                          <a:spcPts val="555"/>
                        </a:lnSpc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288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9798">
                <a:tc>
                  <a:txBody>
                    <a:bodyPr/>
                    <a:lstStyle/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marL="254635" algn="l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lang="en-US" sz="800" b="1" dirty="0">
                        <a:latin typeface="Arial"/>
                        <a:cs typeface="Arial"/>
                      </a:endParaRPr>
                    </a:p>
                    <a:p>
                      <a:pPr algn="l"/>
                      <a:r>
                        <a:rPr lang="en-US" sz="800" b="1" dirty="0"/>
                        <a:t>Cum </a:t>
                      </a:r>
                      <a:r>
                        <a:rPr lang="en-US" sz="800" b="1" dirty="0" err="1"/>
                        <a:t>circulă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datele</a:t>
                      </a:r>
                      <a:r>
                        <a:rPr lang="en-US" sz="800" b="1" dirty="0"/>
                        <a:t>:</a:t>
                      </a:r>
                    </a:p>
                    <a:p>
                      <a:pPr algn="l"/>
                      <a:endParaRPr lang="en-US" sz="800" dirty="0"/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800" b="1" dirty="0"/>
                        <a:t>1.Utilizatorul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scrie</a:t>
                      </a:r>
                      <a:r>
                        <a:rPr lang="en-US" sz="800" dirty="0"/>
                        <a:t> o </a:t>
                      </a:r>
                      <a:r>
                        <a:rPr lang="en-US" sz="800" dirty="0" err="1"/>
                        <a:t>descriere</a:t>
                      </a:r>
                      <a:r>
                        <a:rPr lang="en-US" sz="800" dirty="0"/>
                        <a:t> (ex: „</a:t>
                      </a:r>
                      <a:r>
                        <a:rPr lang="en-US" sz="800" dirty="0" err="1"/>
                        <a:t>Îmi</a:t>
                      </a:r>
                      <a:r>
                        <a:rPr lang="en-US" sz="800" dirty="0"/>
                        <a:t> place IT-ul, nu </a:t>
                      </a:r>
                      <a:r>
                        <a:rPr lang="en-US" sz="800" dirty="0" err="1"/>
                        <a:t>vreau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politică</a:t>
                      </a:r>
                      <a:r>
                        <a:rPr lang="en-US" sz="800" dirty="0"/>
                        <a:t>”).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800" b="1" dirty="0"/>
                        <a:t>2.Gateway (</a:t>
                      </a:r>
                      <a:r>
                        <a:rPr lang="en-US" sz="800" b="1" dirty="0" err="1"/>
                        <a:t>Creierul</a:t>
                      </a:r>
                      <a:r>
                        <a:rPr lang="en-US" sz="800" b="1" dirty="0"/>
                        <a:t>):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Coordonează</a:t>
                      </a:r>
                      <a:r>
                        <a:rPr lang="en-US" sz="800" dirty="0"/>
                        <a:t> tot </a:t>
                      </a:r>
                      <a:r>
                        <a:rPr lang="en-US" sz="800" dirty="0" err="1"/>
                        <a:t>procesul</a:t>
                      </a:r>
                      <a:r>
                        <a:rPr lang="en-US" sz="800" dirty="0"/>
                        <a:t>.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800" b="1" dirty="0"/>
                        <a:t>3.AI 1 (</a:t>
                      </a:r>
                      <a:r>
                        <a:rPr lang="en-US" sz="800" b="1" dirty="0" err="1"/>
                        <a:t>Analistul</a:t>
                      </a:r>
                      <a:r>
                        <a:rPr lang="en-US" sz="800" b="1" dirty="0"/>
                        <a:t>):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Înțelege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vrea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utilizatorul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și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creează</a:t>
                      </a:r>
                      <a:r>
                        <a:rPr lang="en-US" sz="800" dirty="0"/>
                        <a:t> un </a:t>
                      </a:r>
                      <a:r>
                        <a:rPr lang="en-US" sz="800" dirty="0" err="1"/>
                        <a:t>profil</a:t>
                      </a:r>
                      <a:r>
                        <a:rPr lang="en-US" sz="800" dirty="0"/>
                        <a:t>.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800" b="1" dirty="0"/>
                        <a:t>4.AI 2 (</a:t>
                      </a:r>
                      <a:r>
                        <a:rPr lang="en-US" sz="800" b="1" dirty="0" err="1"/>
                        <a:t>Scriitorul</a:t>
                      </a:r>
                      <a:r>
                        <a:rPr lang="en-US" sz="800" b="1" dirty="0"/>
                        <a:t>):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Ia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știrile</a:t>
                      </a:r>
                      <a:r>
                        <a:rPr lang="en-US" sz="800" dirty="0"/>
                        <a:t> brute </a:t>
                      </a:r>
                      <a:r>
                        <a:rPr lang="en-US" sz="800" dirty="0" err="1"/>
                        <a:t>și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scrie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rezumatul</a:t>
                      </a:r>
                      <a:r>
                        <a:rPr lang="en-US" sz="800" dirty="0"/>
                        <a:t> final pe </a:t>
                      </a:r>
                      <a:r>
                        <a:rPr lang="en-US" sz="800" dirty="0" err="1"/>
                        <a:t>baza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profilului</a:t>
                      </a:r>
                      <a:r>
                        <a:rPr lang="en-US" sz="800" dirty="0"/>
                        <a:t>.</a:t>
                      </a:r>
                    </a:p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800" b="1" dirty="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805">
                <a:tc>
                  <a:txBody>
                    <a:bodyPr/>
                    <a:lstStyle/>
                    <a:p>
                      <a:pPr marL="254635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800" b="1" dirty="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159884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0" y="3348482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18"/>
                </a:lnTo>
                <a:lnTo>
                  <a:pt x="4608004" y="107518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6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214892-CE00-93FC-3B7E-16560FFC54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96" y="498031"/>
            <a:ext cx="2590800" cy="1219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93" y="1286890"/>
            <a:ext cx="4040504" cy="472440"/>
            <a:chOff x="309193" y="1286890"/>
            <a:chExt cx="4040504" cy="472440"/>
          </a:xfrm>
        </p:grpSpPr>
        <p:sp>
          <p:nvSpPr>
            <p:cNvPr id="3" name="object 3"/>
            <p:cNvSpPr/>
            <p:nvPr/>
          </p:nvSpPr>
          <p:spPr>
            <a:xfrm>
              <a:off x="309193" y="1286890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9994" y="1350147"/>
              <a:ext cx="3989704" cy="408940"/>
            </a:xfrm>
            <a:custGeom>
              <a:avLst/>
              <a:gdLst/>
              <a:ahLst/>
              <a:cxnLst/>
              <a:rect l="l" t="t" r="r" b="b"/>
              <a:pathLst>
                <a:path w="3989704" h="408939">
                  <a:moveTo>
                    <a:pt x="3989652" y="0"/>
                  </a:moveTo>
                  <a:lnTo>
                    <a:pt x="0" y="0"/>
                  </a:lnTo>
                  <a:lnTo>
                    <a:pt x="0" y="408879"/>
                  </a:lnTo>
                  <a:lnTo>
                    <a:pt x="3989652" y="40887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3" y="1331310"/>
              <a:ext cx="3989704" cy="377190"/>
            </a:xfrm>
            <a:custGeom>
              <a:avLst/>
              <a:gdLst/>
              <a:ahLst/>
              <a:cxnLst/>
              <a:rect l="l" t="t" r="r" b="b"/>
              <a:pathLst>
                <a:path w="3989704" h="377189">
                  <a:moveTo>
                    <a:pt x="3989652" y="0"/>
                  </a:moveTo>
                  <a:lnTo>
                    <a:pt x="0" y="0"/>
                  </a:lnTo>
                  <a:lnTo>
                    <a:pt x="0" y="326115"/>
                  </a:lnTo>
                  <a:lnTo>
                    <a:pt x="4008" y="345840"/>
                  </a:lnTo>
                  <a:lnTo>
                    <a:pt x="14922" y="361993"/>
                  </a:lnTo>
                  <a:lnTo>
                    <a:pt x="31075" y="372907"/>
                  </a:lnTo>
                  <a:lnTo>
                    <a:pt x="50800" y="376916"/>
                  </a:lnTo>
                  <a:lnTo>
                    <a:pt x="3938852" y="376916"/>
                  </a:lnTo>
                  <a:lnTo>
                    <a:pt x="3958576" y="372907"/>
                  </a:lnTo>
                  <a:lnTo>
                    <a:pt x="3974729" y="361993"/>
                  </a:lnTo>
                  <a:lnTo>
                    <a:pt x="3985644" y="345840"/>
                  </a:lnTo>
                  <a:lnTo>
                    <a:pt x="3989652" y="32611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9994" y="1350147"/>
            <a:ext cx="3989704" cy="239809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550"/>
              </a:spcBef>
            </a:pPr>
            <a:r>
              <a:rPr lang="en-US" sz="1100" dirty="0"/>
              <a:t>State of the art / </a:t>
            </a:r>
            <a:r>
              <a:rPr lang="en-US" sz="1100" dirty="0" err="1"/>
              <a:t>Stadiul</a:t>
            </a:r>
            <a:r>
              <a:rPr lang="en-US" sz="1100" dirty="0"/>
              <a:t> actual al </a:t>
            </a:r>
            <a:r>
              <a:rPr lang="en-US" sz="1100" dirty="0" err="1"/>
              <a:t>cunoașterii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7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36130"/>
            <a:ext cx="3810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SOTA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018026"/>
              </p:ext>
            </p:extLst>
          </p:nvPr>
        </p:nvGraphicFramePr>
        <p:xfrm>
          <a:off x="95300" y="473075"/>
          <a:ext cx="4459454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9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328">
                <a:tc>
                  <a:txBody>
                    <a:bodyPr/>
                    <a:lstStyle/>
                    <a:p>
                      <a:pPr marL="39370">
                        <a:lnSpc>
                          <a:spcPts val="555"/>
                        </a:lnSpc>
                      </a:pPr>
                      <a:endParaRPr sz="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288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272">
                <a:tc>
                  <a:txBody>
                    <a:bodyPr/>
                    <a:lstStyle/>
                    <a:p>
                      <a:r>
                        <a:rPr lang="en-US" sz="800" b="1" dirty="0" err="1"/>
                        <a:t>Standardul</a:t>
                      </a:r>
                      <a:r>
                        <a:rPr lang="en-US" sz="800" b="1" dirty="0"/>
                        <a:t> Actual (SOTA):</a:t>
                      </a: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/>
                        <a:t>Modele</a:t>
                      </a:r>
                      <a:r>
                        <a:rPr lang="en-US" sz="800" dirty="0"/>
                        <a:t> Transformer (BERT, T5) </a:t>
                      </a:r>
                      <a:r>
                        <a:rPr lang="en-US" sz="800" dirty="0" err="1"/>
                        <a:t>utilizate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pentru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sumarizare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automată</a:t>
                      </a:r>
                      <a:r>
                        <a:rPr lang="en-US" sz="8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 err="1"/>
                        <a:t>Limitare</a:t>
                      </a:r>
                      <a:r>
                        <a:rPr lang="en-US" sz="800" b="1" dirty="0"/>
                        <a:t>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Abordare</a:t>
                      </a:r>
                      <a:r>
                        <a:rPr lang="en-US" sz="800" dirty="0"/>
                        <a:t> "One-size-fits-all" – </a:t>
                      </a:r>
                      <a:r>
                        <a:rPr lang="en-US" sz="800" dirty="0" err="1"/>
                        <a:t>oferă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același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rezumat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tuturor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 err="1"/>
                        <a:t>riscând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pierderea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contextului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și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subiectivitate</a:t>
                      </a:r>
                      <a:r>
                        <a:rPr lang="en-US" sz="800" dirty="0"/>
                        <a:t> (bias).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r>
                        <a:rPr lang="en-US" sz="800" b="1" dirty="0" err="1"/>
                        <a:t>Proiecte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Similare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Analizate</a:t>
                      </a:r>
                      <a:r>
                        <a:rPr lang="en-US" sz="800" b="1" dirty="0"/>
                        <a:t>:</a:t>
                      </a: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/>
                        <a:t>KENN News: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Utilizează</a:t>
                      </a:r>
                      <a:r>
                        <a:rPr lang="en-US" sz="800" dirty="0"/>
                        <a:t> Cloud (OpenAI GPT-3.5 + Bing API). </a:t>
                      </a:r>
                      <a:r>
                        <a:rPr lang="en-US" sz="800" dirty="0" err="1"/>
                        <a:t>Deși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eficient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 err="1"/>
                        <a:t>depinde</a:t>
                      </a:r>
                      <a:r>
                        <a:rPr lang="en-US" sz="800" dirty="0"/>
                        <a:t> de API-</a:t>
                      </a:r>
                      <a:r>
                        <a:rPr lang="en-US" sz="800" dirty="0" err="1"/>
                        <a:t>uri</a:t>
                      </a:r>
                      <a:r>
                        <a:rPr lang="en-US" sz="800" dirty="0"/>
                        <a:t> externe </a:t>
                      </a:r>
                      <a:r>
                        <a:rPr lang="en-US" sz="800" dirty="0" err="1"/>
                        <a:t>costisitoare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/>
                        <a:t>Bots de </a:t>
                      </a:r>
                      <a:r>
                        <a:rPr lang="en-US" sz="800" b="1" dirty="0" err="1"/>
                        <a:t>Știri</a:t>
                      </a:r>
                      <a:r>
                        <a:rPr lang="en-US" sz="800" b="1" dirty="0"/>
                        <a:t> (TIJER/IJARIIE):</a:t>
                      </a:r>
                      <a:r>
                        <a:rPr lang="en-US" sz="800" dirty="0"/>
                        <a:t> Se </a:t>
                      </a:r>
                      <a:r>
                        <a:rPr lang="en-US" sz="800" dirty="0" err="1"/>
                        <a:t>concentrează</a:t>
                      </a:r>
                      <a:r>
                        <a:rPr lang="en-US" sz="800" dirty="0"/>
                        <a:t> pe </a:t>
                      </a:r>
                      <a:r>
                        <a:rPr lang="en-US" sz="800" dirty="0" err="1"/>
                        <a:t>reducerea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dimensiunii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textului</a:t>
                      </a:r>
                      <a:r>
                        <a:rPr lang="en-US" sz="800" dirty="0"/>
                        <a:t> (100-200 </a:t>
                      </a:r>
                      <a:r>
                        <a:rPr lang="en-US" sz="800" dirty="0" err="1"/>
                        <a:t>cuvinte</a:t>
                      </a:r>
                      <a:r>
                        <a:rPr lang="en-US" sz="800" dirty="0"/>
                        <a:t>), nu pe </a:t>
                      </a:r>
                      <a:r>
                        <a:rPr lang="en-US" sz="800" dirty="0" err="1"/>
                        <a:t>adaptarea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stilului</a:t>
                      </a:r>
                      <a:r>
                        <a:rPr lang="en-US" sz="800" dirty="0"/>
                        <a:t>. </a:t>
                      </a:r>
                    </a:p>
                    <a:p>
                      <a:endParaRPr lang="en-US" sz="800" dirty="0"/>
                    </a:p>
                    <a:p>
                      <a:r>
                        <a:rPr lang="en-US" sz="800" b="1" dirty="0" err="1"/>
                        <a:t>Inovația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MyNews</a:t>
                      </a:r>
                      <a:r>
                        <a:rPr lang="en-US" sz="800" b="1" dirty="0"/>
                        <a:t> (Chain-of-Agents):</a:t>
                      </a: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 err="1"/>
                        <a:t>Diferențiator</a:t>
                      </a:r>
                      <a:r>
                        <a:rPr lang="en-US" sz="800" b="1" dirty="0"/>
                        <a:t>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Trecerea</a:t>
                      </a:r>
                      <a:r>
                        <a:rPr lang="en-US" sz="800" dirty="0"/>
                        <a:t> de la </a:t>
                      </a:r>
                      <a:r>
                        <a:rPr lang="en-US" sz="800" dirty="0" err="1"/>
                        <a:t>simpla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scurtare</a:t>
                      </a:r>
                      <a:r>
                        <a:rPr lang="en-US" sz="800" dirty="0"/>
                        <a:t> la </a:t>
                      </a:r>
                      <a:r>
                        <a:rPr lang="en-US" sz="800" b="1" dirty="0"/>
                        <a:t>Transfer </a:t>
                      </a:r>
                      <a:r>
                        <a:rPr lang="en-US" sz="800" b="1" dirty="0" err="1"/>
                        <a:t>Stilistic</a:t>
                      </a:r>
                      <a:r>
                        <a:rPr lang="en-US" sz="800" b="1" dirty="0"/>
                        <a:t> (Style Transfer)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 err="1"/>
                        <a:t>Arhitectură</a:t>
                      </a:r>
                      <a:r>
                        <a:rPr lang="en-US" sz="800" b="1" dirty="0"/>
                        <a:t>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Separarea</a:t>
                      </a:r>
                      <a:r>
                        <a:rPr lang="en-US" sz="800" dirty="0"/>
                        <a:t> "</a:t>
                      </a:r>
                      <a:r>
                        <a:rPr lang="en-US" sz="800" dirty="0" err="1"/>
                        <a:t>Gândirii</a:t>
                      </a:r>
                      <a:r>
                        <a:rPr lang="en-US" sz="800" dirty="0"/>
                        <a:t>" (</a:t>
                      </a:r>
                      <a:r>
                        <a:rPr lang="en-US" sz="800" dirty="0" err="1"/>
                        <a:t>Profilare</a:t>
                      </a:r>
                      <a:r>
                        <a:rPr lang="en-US" sz="800" dirty="0"/>
                        <a:t>) de "</a:t>
                      </a:r>
                      <a:r>
                        <a:rPr lang="en-US" sz="800" dirty="0" err="1"/>
                        <a:t>Scriere</a:t>
                      </a:r>
                      <a:r>
                        <a:rPr lang="en-US" sz="800" dirty="0"/>
                        <a:t>" (</a:t>
                      </a:r>
                      <a:r>
                        <a:rPr lang="en-US" sz="800" dirty="0" err="1"/>
                        <a:t>Generare</a:t>
                      </a:r>
                      <a:r>
                        <a:rPr lang="en-US" sz="800" dirty="0"/>
                        <a:t>) </a:t>
                      </a:r>
                      <a:r>
                        <a:rPr lang="en-US" sz="800" dirty="0" err="1"/>
                        <a:t>pentru</a:t>
                      </a:r>
                      <a:r>
                        <a:rPr lang="en-US" sz="800" dirty="0"/>
                        <a:t> a </a:t>
                      </a:r>
                      <a:r>
                        <a:rPr lang="en-US" sz="800" dirty="0" err="1"/>
                        <a:t>elimina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halucinațiile</a:t>
                      </a:r>
                      <a:r>
                        <a:rPr lang="en-US" sz="8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/>
                        <a:t>Privacy: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Procesare</a:t>
                      </a:r>
                      <a:r>
                        <a:rPr lang="en-US" sz="800" dirty="0"/>
                        <a:t> 100% </a:t>
                      </a:r>
                      <a:r>
                        <a:rPr lang="en-US" sz="800" dirty="0" err="1"/>
                        <a:t>locală</a:t>
                      </a:r>
                      <a:r>
                        <a:rPr lang="en-US" sz="800" dirty="0"/>
                        <a:t> (</a:t>
                      </a:r>
                      <a:r>
                        <a:rPr lang="en-US" sz="800" dirty="0" err="1"/>
                        <a:t>Ollama</a:t>
                      </a:r>
                      <a:r>
                        <a:rPr lang="en-US" sz="800" dirty="0"/>
                        <a:t>), </a:t>
                      </a:r>
                      <a:r>
                        <a:rPr lang="en-US" sz="800" dirty="0" err="1"/>
                        <a:t>eliminând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dependența</a:t>
                      </a:r>
                      <a:r>
                        <a:rPr lang="en-US" sz="800" dirty="0"/>
                        <a:t> de Cloud. </a:t>
                      </a:r>
                    </a:p>
                  </a:txBody>
                  <a:tcPr marL="0" marR="0" marT="56515" marB="0">
                    <a:solidFill>
                      <a:srgbClr val="E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48482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18"/>
                </a:lnTo>
                <a:lnTo>
                  <a:pt x="4608004" y="107518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8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193" y="1276616"/>
            <a:ext cx="4040504" cy="495300"/>
            <a:chOff x="309193" y="1276616"/>
            <a:chExt cx="4040504" cy="495300"/>
          </a:xfrm>
        </p:grpSpPr>
        <p:sp>
          <p:nvSpPr>
            <p:cNvPr id="3" name="object 3"/>
            <p:cNvSpPr/>
            <p:nvPr/>
          </p:nvSpPr>
          <p:spPr>
            <a:xfrm>
              <a:off x="309193" y="1276616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9994" y="1339876"/>
              <a:ext cx="3989704" cy="432434"/>
            </a:xfrm>
            <a:custGeom>
              <a:avLst/>
              <a:gdLst/>
              <a:ahLst/>
              <a:cxnLst/>
              <a:rect l="l" t="t" r="r" b="b"/>
              <a:pathLst>
                <a:path w="3989704" h="432435">
                  <a:moveTo>
                    <a:pt x="3989652" y="0"/>
                  </a:moveTo>
                  <a:lnTo>
                    <a:pt x="0" y="0"/>
                  </a:lnTo>
                  <a:lnTo>
                    <a:pt x="0" y="432016"/>
                  </a:lnTo>
                  <a:lnTo>
                    <a:pt x="3989652" y="43201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3" y="1321039"/>
              <a:ext cx="3989704" cy="400050"/>
            </a:xfrm>
            <a:custGeom>
              <a:avLst/>
              <a:gdLst/>
              <a:ahLst/>
              <a:cxnLst/>
              <a:rect l="l" t="t" r="r" b="b"/>
              <a:pathLst>
                <a:path w="3989704" h="400050">
                  <a:moveTo>
                    <a:pt x="3989652" y="0"/>
                  </a:moveTo>
                  <a:lnTo>
                    <a:pt x="0" y="0"/>
                  </a:lnTo>
                  <a:lnTo>
                    <a:pt x="0" y="349252"/>
                  </a:lnTo>
                  <a:lnTo>
                    <a:pt x="4008" y="368976"/>
                  </a:lnTo>
                  <a:lnTo>
                    <a:pt x="14922" y="385129"/>
                  </a:lnTo>
                  <a:lnTo>
                    <a:pt x="31075" y="396044"/>
                  </a:lnTo>
                  <a:lnTo>
                    <a:pt x="50800" y="400052"/>
                  </a:lnTo>
                  <a:lnTo>
                    <a:pt x="3938852" y="400052"/>
                  </a:lnTo>
                  <a:lnTo>
                    <a:pt x="3958576" y="396044"/>
                  </a:lnTo>
                  <a:lnTo>
                    <a:pt x="3974729" y="385129"/>
                  </a:lnTo>
                  <a:lnTo>
                    <a:pt x="3985644" y="368976"/>
                  </a:lnTo>
                  <a:lnTo>
                    <a:pt x="3989652" y="34925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2887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9994" y="1339875"/>
            <a:ext cx="3989704" cy="236603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199515">
              <a:lnSpc>
                <a:spcPct val="100000"/>
              </a:lnSpc>
              <a:spcBef>
                <a:spcPts val="525"/>
              </a:spcBef>
            </a:pPr>
            <a:r>
              <a:rPr lang="en-US" sz="1100" dirty="0" err="1"/>
              <a:t>Experimente</a:t>
            </a:r>
            <a:r>
              <a:rPr lang="en-US" sz="1100" dirty="0"/>
              <a:t> </a:t>
            </a:r>
            <a:r>
              <a:rPr lang="en-US" sz="1100" dirty="0" err="1"/>
              <a:t>și</a:t>
            </a:r>
            <a:r>
              <a:rPr lang="en-US" sz="1100" dirty="0"/>
              <a:t> </a:t>
            </a:r>
            <a:r>
              <a:rPr lang="en-US" sz="1100" dirty="0" err="1"/>
              <a:t>Rezultate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9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Experimente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10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D18D19F0-FFE8-B231-DE82-9145FA8D6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7425" y="282575"/>
            <a:ext cx="451485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800" b="1" dirty="0" err="1"/>
              <a:t>Structurarea</a:t>
            </a:r>
            <a:r>
              <a:rPr lang="en-US" sz="800" b="1" dirty="0"/>
              <a:t> </a:t>
            </a:r>
            <a:r>
              <a:rPr lang="en-US" sz="800" b="1" dirty="0" err="1"/>
              <a:t>Datelor</a:t>
            </a:r>
            <a:r>
              <a:rPr lang="en-US" sz="800" b="1" dirty="0"/>
              <a:t>: Prompt-ul </a:t>
            </a:r>
            <a:r>
              <a:rPr lang="en-US" sz="800" b="1" dirty="0" err="1"/>
              <a:t>pentru</a:t>
            </a:r>
            <a:r>
              <a:rPr lang="en-US" sz="800" b="1" dirty="0"/>
              <a:t> </a:t>
            </a:r>
            <a:r>
              <a:rPr lang="en-US" sz="800" b="1" dirty="0" err="1"/>
              <a:t>Extragerea</a:t>
            </a:r>
            <a:r>
              <a:rPr lang="en-US" sz="800" b="1" dirty="0"/>
              <a:t> </a:t>
            </a:r>
            <a:r>
              <a:rPr lang="en-US" sz="800" b="1" dirty="0" err="1"/>
              <a:t>Preferințelor</a:t>
            </a:r>
            <a:endParaRPr lang="en-US" sz="800" b="1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6F576FBC-CD84-7F17-C7C2-0FA695A1F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45" y="788629"/>
            <a:ext cx="23524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Provocarea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Știrile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brute sunt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nestructurate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voluminoase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Soluția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(LLM 1):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"System Prompt" strict care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forțează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output determinist.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Mecanism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Instrucțiune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"Return ONLY valid JSON"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Transformarea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textului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liber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likes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avoids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tone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Setată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0.0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elimina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creativitatea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garanta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precizia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extracției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A7FA8-DB5A-4693-BA15-87D1DC3D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49" y="552694"/>
            <a:ext cx="2276275" cy="218793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B8AFE-7791-8994-13B6-960B0B99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2186424-91C2-50BD-49AD-EA70F27011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Experimente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EBC703B-0182-7507-9985-B9D327FA5BB5}"/>
              </a:ext>
            </a:extLst>
          </p:cNvPr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65601D4-82FB-6322-54A5-C52D2D586C7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39F2092-90A6-4D09-E790-941451F1EB7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11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839FE43-38FB-2008-D8EA-AE5E0DB78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7425" y="282575"/>
            <a:ext cx="451485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800" b="1" dirty="0" err="1"/>
              <a:t>Controlul</a:t>
            </a:r>
            <a:r>
              <a:rPr lang="en-US" sz="800" b="1" dirty="0"/>
              <a:t> </a:t>
            </a:r>
            <a:r>
              <a:rPr lang="en-US" sz="800" b="1" dirty="0" err="1"/>
              <a:t>Generării</a:t>
            </a:r>
            <a:r>
              <a:rPr lang="en-US" sz="800" b="1" dirty="0"/>
              <a:t>: System Prompt-ul </a:t>
            </a:r>
            <a:r>
              <a:rPr lang="en-US" sz="800" b="1" dirty="0" err="1"/>
              <a:t>pentru</a:t>
            </a:r>
            <a:r>
              <a:rPr lang="en-US" sz="800" b="1" dirty="0"/>
              <a:t> LLM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4DE881-1BC5-A0E5-0F3A-34DB25CFC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433" y="829876"/>
            <a:ext cx="180308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Construcția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Dinamică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Prompt-ul se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modifică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funcție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profilul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utilizatorului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likes_str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{tone}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Reguli "Hard" (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Constrângeri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Halucinație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"Do not add facts. Do not speculate."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Filtrare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Semantică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"Select items strictly by semantic relevance."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Stilistică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"No bullet lists. Write continuous prose."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Transformarea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listei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date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într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-un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articol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coerent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gata de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citit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2735DC-2177-B6E0-6425-15F1DDC79A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20" y="434975"/>
            <a:ext cx="2912745" cy="277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60760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7390-862E-1D3F-1241-63A1CB07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AA687F0-F3F1-5A3C-E0A0-A200F8985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Experimente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F25B34-6666-253E-085E-8801226A6840}"/>
              </a:ext>
            </a:extLst>
          </p:cNvPr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4FF51E7-11D7-752B-5A3C-47CFEF75D0B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5400E9C-95C7-157A-416E-6ACDEA1FE88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12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8DA1248-7F87-C5B4-9EB9-9B069B71D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2575"/>
            <a:ext cx="45148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800" b="1" dirty="0" err="1"/>
              <a:t>Obiectivul</a:t>
            </a:r>
            <a:r>
              <a:rPr lang="en-US" sz="800" b="1" dirty="0"/>
              <a:t> </a:t>
            </a:r>
            <a:r>
              <a:rPr lang="en-US" sz="800" b="1" dirty="0" err="1"/>
              <a:t>Testării</a:t>
            </a:r>
            <a:r>
              <a:rPr lang="en-US" sz="800" b="1" dirty="0"/>
              <a:t>:</a:t>
            </a:r>
            <a:r>
              <a:rPr lang="en-US" sz="800" dirty="0"/>
              <a:t> </a:t>
            </a:r>
            <a:r>
              <a:rPr lang="en-US" sz="800" dirty="0" err="1"/>
              <a:t>Verificarea</a:t>
            </a:r>
            <a:r>
              <a:rPr lang="en-US" sz="800" dirty="0"/>
              <a:t> </a:t>
            </a:r>
            <a:r>
              <a:rPr lang="en-US" sz="800" dirty="0" err="1"/>
              <a:t>capacității</a:t>
            </a:r>
            <a:r>
              <a:rPr lang="en-US" sz="800" dirty="0"/>
              <a:t> </a:t>
            </a:r>
            <a:r>
              <a:rPr lang="en-US" sz="800" dirty="0" err="1"/>
              <a:t>sistemului</a:t>
            </a:r>
            <a:r>
              <a:rPr lang="en-US" sz="800" dirty="0"/>
              <a:t> de a </a:t>
            </a:r>
            <a:r>
              <a:rPr lang="en-US" sz="800" dirty="0" err="1"/>
              <a:t>adapta</a:t>
            </a:r>
            <a:r>
              <a:rPr lang="en-US" sz="800" dirty="0"/>
              <a:t> </a:t>
            </a:r>
            <a:r>
              <a:rPr lang="en-US" sz="800" dirty="0" err="1"/>
              <a:t>conținutul</a:t>
            </a:r>
            <a:r>
              <a:rPr lang="en-US" sz="800" dirty="0"/>
              <a:t> </a:t>
            </a:r>
            <a:r>
              <a:rPr lang="en-US" sz="800" dirty="0" err="1"/>
              <a:t>în</a:t>
            </a:r>
            <a:r>
              <a:rPr lang="en-US" sz="800" dirty="0"/>
              <a:t> </a:t>
            </a:r>
            <a:r>
              <a:rPr lang="en-US" sz="800" dirty="0" err="1"/>
              <a:t>timp</a:t>
            </a:r>
            <a:r>
              <a:rPr lang="en-US" sz="800" dirty="0"/>
              <a:t> real.</a:t>
            </a:r>
          </a:p>
          <a:p>
            <a:r>
              <a:rPr lang="en-US" sz="800" b="1" dirty="0" err="1"/>
              <a:t>Scenariul</a:t>
            </a:r>
            <a:r>
              <a:rPr lang="en-US" sz="800" b="1" dirty="0"/>
              <a:t> 1: </a:t>
            </a:r>
            <a:r>
              <a:rPr lang="en-US" sz="800" b="1" dirty="0" err="1"/>
              <a:t>Filtrarea</a:t>
            </a:r>
            <a:r>
              <a:rPr lang="en-US" sz="800" b="1" dirty="0"/>
              <a:t> </a:t>
            </a:r>
            <a:r>
              <a:rPr lang="en-US" sz="800" b="1" dirty="0" err="1"/>
              <a:t>Negativă</a:t>
            </a:r>
            <a:r>
              <a:rPr lang="en-US" sz="800" b="1" dirty="0"/>
              <a:t> (Negative Constraints)</a:t>
            </a:r>
            <a:endParaRPr lang="en-US" sz="800" dirty="0"/>
          </a:p>
          <a:p>
            <a:pPr lvl="1"/>
            <a:r>
              <a:rPr lang="en-US" sz="800" dirty="0"/>
              <a:t>Test: </a:t>
            </a:r>
            <a:r>
              <a:rPr lang="en-US" sz="800" dirty="0" err="1"/>
              <a:t>Utilizatorul</a:t>
            </a:r>
            <a:r>
              <a:rPr lang="en-US" sz="800" dirty="0"/>
              <a:t> cere explicit </a:t>
            </a:r>
            <a:r>
              <a:rPr lang="en-US" sz="800" i="1" dirty="0" err="1"/>
              <a:t>excluderea</a:t>
            </a:r>
            <a:r>
              <a:rPr lang="en-US" sz="800" dirty="0"/>
              <a:t> </a:t>
            </a:r>
            <a:r>
              <a:rPr lang="en-US" sz="800" dirty="0" err="1"/>
              <a:t>unui</a:t>
            </a:r>
            <a:r>
              <a:rPr lang="en-US" sz="800" dirty="0"/>
              <a:t> </a:t>
            </a:r>
            <a:r>
              <a:rPr lang="en-US" sz="800" dirty="0" err="1"/>
              <a:t>domeniu</a:t>
            </a:r>
            <a:r>
              <a:rPr lang="en-US" sz="800" dirty="0"/>
              <a:t> (ex: "</a:t>
            </a:r>
            <a:r>
              <a:rPr lang="en-US" sz="800" dirty="0" err="1"/>
              <a:t>Fără</a:t>
            </a:r>
            <a:r>
              <a:rPr lang="en-US" sz="800" dirty="0"/>
              <a:t> </a:t>
            </a:r>
            <a:r>
              <a:rPr lang="en-US" sz="800" dirty="0" err="1"/>
              <a:t>Tehnologie</a:t>
            </a:r>
            <a:r>
              <a:rPr lang="en-US" sz="800" dirty="0"/>
              <a:t> </a:t>
            </a:r>
            <a:r>
              <a:rPr lang="en-US" sz="800" dirty="0" err="1"/>
              <a:t>si</a:t>
            </a:r>
            <a:r>
              <a:rPr lang="en-US" sz="800" dirty="0"/>
              <a:t> Business”).</a:t>
            </a:r>
          </a:p>
          <a:p>
            <a:pPr lvl="1"/>
            <a:r>
              <a:rPr lang="en-US" sz="800" dirty="0" err="1"/>
              <a:t>Validare</a:t>
            </a:r>
            <a:r>
              <a:rPr lang="en-US" sz="800" dirty="0"/>
              <a:t>: </a:t>
            </a:r>
            <a:r>
              <a:rPr lang="en-US" sz="800" dirty="0" err="1"/>
              <a:t>Verificăm</a:t>
            </a:r>
            <a:r>
              <a:rPr lang="en-US" sz="800" dirty="0"/>
              <a:t> </a:t>
            </a:r>
            <a:r>
              <a:rPr lang="en-US" sz="800" dirty="0" err="1"/>
              <a:t>dacă</a:t>
            </a:r>
            <a:r>
              <a:rPr lang="en-US" sz="800" dirty="0"/>
              <a:t> </a:t>
            </a:r>
            <a:r>
              <a:rPr lang="en-US" sz="800" dirty="0" err="1"/>
              <a:t>știrile</a:t>
            </a:r>
            <a:r>
              <a:rPr lang="en-US" sz="800" dirty="0"/>
              <a:t> din </a:t>
            </a:r>
            <a:r>
              <a:rPr lang="en-US" sz="800" dirty="0" err="1"/>
              <a:t>acea</a:t>
            </a:r>
            <a:r>
              <a:rPr lang="en-US" sz="800" dirty="0"/>
              <a:t> </a:t>
            </a:r>
            <a:r>
              <a:rPr lang="en-US" sz="800" dirty="0" err="1"/>
              <a:t>categorie</a:t>
            </a:r>
            <a:r>
              <a:rPr lang="en-US" sz="800" dirty="0"/>
              <a:t> sunt eliminate </a:t>
            </a:r>
            <a:r>
              <a:rPr lang="en-US" sz="800" dirty="0" err="1"/>
              <a:t>complet</a:t>
            </a:r>
            <a:r>
              <a:rPr lang="en-US" sz="800" dirty="0"/>
              <a:t>.</a:t>
            </a:r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r>
              <a:rPr lang="en-US" sz="800" b="1" dirty="0" err="1"/>
              <a:t>Scenariul</a:t>
            </a:r>
            <a:r>
              <a:rPr lang="en-US" sz="800" b="1" dirty="0"/>
              <a:t> 2: </a:t>
            </a:r>
            <a:r>
              <a:rPr lang="en-US" sz="800" b="1" dirty="0" err="1"/>
              <a:t>Adaptarea</a:t>
            </a:r>
            <a:r>
              <a:rPr lang="en-US" sz="800" b="1" dirty="0"/>
              <a:t> </a:t>
            </a:r>
            <a:r>
              <a:rPr lang="en-US" sz="800" b="1" dirty="0" err="1"/>
              <a:t>Nivelului</a:t>
            </a:r>
            <a:r>
              <a:rPr lang="en-US" sz="800" b="1" dirty="0"/>
              <a:t> </a:t>
            </a:r>
            <a:r>
              <a:rPr lang="en-US" sz="800" b="1" dirty="0" err="1"/>
              <a:t>Cognitiv</a:t>
            </a:r>
            <a:endParaRPr lang="en-US" sz="800" dirty="0"/>
          </a:p>
          <a:p>
            <a:pPr lvl="1"/>
            <a:r>
              <a:rPr lang="en-US" sz="800" dirty="0"/>
              <a:t>Test: </a:t>
            </a:r>
            <a:r>
              <a:rPr lang="en-US" sz="800" dirty="0" err="1"/>
              <a:t>Solicitare</a:t>
            </a:r>
            <a:r>
              <a:rPr lang="en-US" sz="800" dirty="0"/>
              <a:t> de </a:t>
            </a:r>
            <a:r>
              <a:rPr lang="en-US" sz="800" dirty="0" err="1"/>
              <a:t>conținut</a:t>
            </a:r>
            <a:r>
              <a:rPr lang="en-US" sz="800" dirty="0"/>
              <a:t> </a:t>
            </a:r>
            <a:r>
              <a:rPr lang="en-US" sz="800" dirty="0" err="1"/>
              <a:t>pentru</a:t>
            </a:r>
            <a:r>
              <a:rPr lang="en-US" sz="800" dirty="0"/>
              <a:t> un </a:t>
            </a:r>
            <a:r>
              <a:rPr lang="en-US" sz="800" dirty="0" err="1"/>
              <a:t>profil</a:t>
            </a:r>
            <a:r>
              <a:rPr lang="en-US" sz="800" dirty="0"/>
              <a:t> de "</a:t>
            </a:r>
            <a:r>
              <a:rPr lang="en-US" sz="800" dirty="0" err="1"/>
              <a:t>Copil</a:t>
            </a:r>
            <a:r>
              <a:rPr lang="en-US" sz="800" dirty="0"/>
              <a:t>" vs. "Expert".</a:t>
            </a:r>
          </a:p>
          <a:p>
            <a:pPr lvl="1"/>
            <a:r>
              <a:rPr lang="en-US" sz="800" dirty="0" err="1"/>
              <a:t>Validare</a:t>
            </a:r>
            <a:r>
              <a:rPr lang="en-US" sz="800" dirty="0"/>
              <a:t>: Analiza </a:t>
            </a:r>
            <a:r>
              <a:rPr lang="en-US" sz="800" dirty="0" err="1"/>
              <a:t>simplificării</a:t>
            </a:r>
            <a:r>
              <a:rPr lang="en-US" sz="800" dirty="0"/>
              <a:t> </a:t>
            </a:r>
            <a:r>
              <a:rPr lang="en-US" sz="800" dirty="0" err="1"/>
              <a:t>vocabularului</a:t>
            </a:r>
            <a:r>
              <a:rPr lang="en-US" sz="800" dirty="0"/>
              <a:t> </a:t>
            </a:r>
            <a:r>
              <a:rPr lang="en-US" sz="800" dirty="0" err="1"/>
              <a:t>și</a:t>
            </a:r>
            <a:r>
              <a:rPr lang="en-US" sz="800" dirty="0"/>
              <a:t> a </a:t>
            </a:r>
            <a:r>
              <a:rPr lang="en-US" sz="800" dirty="0" err="1"/>
              <a:t>structurii</a:t>
            </a:r>
            <a:r>
              <a:rPr lang="en-US" sz="800" dirty="0"/>
              <a:t> </a:t>
            </a:r>
            <a:r>
              <a:rPr lang="en-US" sz="800" dirty="0" err="1"/>
              <a:t>frazei</a:t>
            </a:r>
            <a:r>
              <a:rPr lang="en-US" sz="800" dirty="0"/>
              <a:t>.</a:t>
            </a:r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r>
              <a:rPr lang="en-US" sz="800" b="1" dirty="0" err="1"/>
              <a:t>Scenariul</a:t>
            </a:r>
            <a:r>
              <a:rPr lang="en-US" sz="800" b="1" dirty="0"/>
              <a:t> 3: </a:t>
            </a:r>
            <a:r>
              <a:rPr lang="en-US" sz="800" b="1" dirty="0" err="1"/>
              <a:t>Coerența</a:t>
            </a:r>
            <a:r>
              <a:rPr lang="en-US" sz="800" b="1" dirty="0"/>
              <a:t> </a:t>
            </a:r>
            <a:r>
              <a:rPr lang="en-US" sz="800" b="1" dirty="0" err="1"/>
              <a:t>Formatului</a:t>
            </a:r>
            <a:endParaRPr lang="en-US" sz="800" dirty="0"/>
          </a:p>
          <a:p>
            <a:pPr lvl="1"/>
            <a:r>
              <a:rPr lang="en-US" sz="800" dirty="0"/>
              <a:t>Test: </a:t>
            </a:r>
            <a:r>
              <a:rPr lang="en-US" sz="800" dirty="0" err="1"/>
              <a:t>Verificarea</a:t>
            </a:r>
            <a:r>
              <a:rPr lang="en-US" sz="800" dirty="0"/>
              <a:t> </a:t>
            </a:r>
            <a:r>
              <a:rPr lang="en-US" sz="800" dirty="0" err="1"/>
              <a:t>eliminării</a:t>
            </a:r>
            <a:r>
              <a:rPr lang="en-US" sz="800" dirty="0"/>
              <a:t> </a:t>
            </a:r>
            <a:r>
              <a:rPr lang="en-US" sz="800" dirty="0" err="1"/>
              <a:t>elementelor</a:t>
            </a:r>
            <a:r>
              <a:rPr lang="en-US" sz="800" dirty="0"/>
              <a:t> </a:t>
            </a:r>
            <a:r>
              <a:rPr lang="en-US" sz="800" dirty="0" err="1"/>
              <a:t>nedorite</a:t>
            </a:r>
            <a:r>
              <a:rPr lang="en-US" sz="800" dirty="0"/>
              <a:t> (bullet points, </a:t>
            </a:r>
            <a:r>
              <a:rPr lang="en-US" sz="800" dirty="0" err="1"/>
              <a:t>liste</a:t>
            </a:r>
            <a:r>
              <a:rPr lang="en-US" sz="800" dirty="0"/>
              <a:t>) </a:t>
            </a:r>
            <a:r>
              <a:rPr lang="en-US" sz="800" dirty="0" err="1"/>
              <a:t>în</a:t>
            </a:r>
            <a:r>
              <a:rPr lang="en-US" sz="800" dirty="0"/>
              <a:t> </a:t>
            </a:r>
            <a:r>
              <a:rPr lang="en-US" sz="800" dirty="0" err="1"/>
              <a:t>favoarea</a:t>
            </a:r>
            <a:r>
              <a:rPr lang="en-US" sz="800" dirty="0"/>
              <a:t> </a:t>
            </a:r>
            <a:r>
              <a:rPr lang="en-US" sz="800" dirty="0" err="1"/>
              <a:t>textului</a:t>
            </a:r>
            <a:r>
              <a:rPr lang="en-US" sz="800" dirty="0"/>
              <a:t> </a:t>
            </a:r>
            <a:r>
              <a:rPr lang="en-US" sz="800" dirty="0" err="1"/>
              <a:t>narativ</a:t>
            </a:r>
            <a:r>
              <a:rPr lang="en-US" sz="800" dirty="0"/>
              <a:t> </a:t>
            </a:r>
            <a:r>
              <a:rPr lang="en-US" sz="800" dirty="0" err="1"/>
              <a:t>continuu</a:t>
            </a:r>
            <a:r>
              <a:rPr lang="en-US" sz="800" dirty="0"/>
              <a:t>.</a:t>
            </a:r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AF4AE8-7FDE-282D-E010-D2274BCFD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70" y="1044575"/>
            <a:ext cx="3288247" cy="2340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EAF5C2D-9929-F5A9-B45F-979A1E96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69" y="1915053"/>
            <a:ext cx="3288247" cy="2990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AFD9DA-EE4E-C21C-502A-3262016F0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69" y="2367967"/>
            <a:ext cx="3288247" cy="2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96278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C6F38-49AB-A5F3-184A-49FF019E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CC098AC-C214-4C46-1089-E48D5E512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Experimente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E00FBAE-0356-E337-6661-E5D8A39B277C}"/>
              </a:ext>
            </a:extLst>
          </p:cNvPr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4B07F20-A686-C8F7-ACB5-D8C1B28B37A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6E71655-4FB4-DB44-51BC-478ED0331AE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13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411E7B0-B282-2600-E2D0-54C964692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2575"/>
            <a:ext cx="45148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it-IT" sz="800" b="1" dirty="0"/>
              <a:t>Scenariul 1: Filtrarea Negativă și Excluderea Domeniilor</a:t>
            </a:r>
            <a:endParaRPr lang="en-US" sz="800" b="1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endParaRPr lang="en-US" sz="800" b="1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46B54D-CB36-4CBC-46A3-6D1AAE62A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149" y="538978"/>
            <a:ext cx="251459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Cazul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Test: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tip "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care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explicit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excluderea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domeniilor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"I am a kid... not interested in business or technology.“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 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Sistemului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(LLM 1):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negația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("not interested").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Populează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câmpul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avoids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etichetele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["business", "technology"]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Setează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tonul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friendly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nivelul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detaliu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low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Știrile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din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categoriile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 au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fost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blocate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fiind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afișat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doar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conținutul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despre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Sport.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24181CE0-A87C-D2FB-5EAD-798B29038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650" y="1577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E9B4BC-5239-D8A4-BF5B-E36CFA1663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826287"/>
            <a:ext cx="2108734" cy="14342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19BD36-9255-4775-1DA9-BC5654FB7E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906" y="445059"/>
            <a:ext cx="2219803" cy="273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99968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D1729-23F2-1AE4-EF8F-69B74E41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201BAB2-3FBF-4539-D147-8C7CE3967B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Experimente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A8CE1EA-A013-3819-DE98-AEAE24A0833A}"/>
              </a:ext>
            </a:extLst>
          </p:cNvPr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91C9548-F7E6-0A4C-EF7C-C279BB0B231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829DB2C-7C86-4DE4-24B2-1E79173F90B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14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7A8FA1F1-2638-90AA-8D97-967F00981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484" y="358775"/>
            <a:ext cx="451485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800" b="1" dirty="0" err="1"/>
              <a:t>Scenariul</a:t>
            </a:r>
            <a:r>
              <a:rPr lang="en-US" sz="800" b="1" dirty="0"/>
              <a:t> 2: </a:t>
            </a:r>
            <a:r>
              <a:rPr lang="en-US" sz="800" b="1" dirty="0" err="1"/>
              <a:t>Adaptarea</a:t>
            </a:r>
            <a:r>
              <a:rPr lang="en-US" sz="800" b="1" dirty="0"/>
              <a:t> </a:t>
            </a:r>
            <a:r>
              <a:rPr lang="en-US" sz="800" b="1" dirty="0" err="1"/>
              <a:t>Nivelului</a:t>
            </a:r>
            <a:r>
              <a:rPr lang="en-US" sz="800" b="1" dirty="0"/>
              <a:t> </a:t>
            </a:r>
            <a:r>
              <a:rPr lang="en-US" sz="800" b="1" dirty="0" err="1"/>
              <a:t>Cognitiv</a:t>
            </a:r>
            <a:r>
              <a:rPr lang="en-US" sz="800" b="1" dirty="0"/>
              <a:t> (Expert)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EDE4DAC-A87B-A263-FB56-718C7F0AE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492" y="545572"/>
            <a:ext cx="2488444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Cazul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Test: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expert ("Computer Science Professor") care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necesită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terminologie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 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Sistemului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(LLM 1):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Recunoaște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autoritatea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profilului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("Professor").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Setează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parametrii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tone: "neutral"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detail_level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"medium/high"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Validare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(LLM 2):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Vocabular: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Păstrează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termeni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("Quantization", "Inference efficiency", "VRAM usage").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Structură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Folosește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fraze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complexe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academic,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fără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simplifica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excesiv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informația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15063-4C93-7ADE-CE13-5CB96AE22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831830"/>
            <a:ext cx="1802029" cy="1646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C2AE2C-BD73-786E-5B9F-65A086A4FE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650" y="282575"/>
            <a:ext cx="1896343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35379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Rezultate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15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96E0941-A482-C94A-DF16-BE95EAA1F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885462"/>
              </p:ext>
            </p:extLst>
          </p:nvPr>
        </p:nvGraphicFramePr>
        <p:xfrm>
          <a:off x="1806627" y="587375"/>
          <a:ext cx="203166" cy="839302"/>
        </p:xfrm>
        <a:graphic>
          <a:graphicData uri="http://schemas.openxmlformats.org/drawingml/2006/table">
            <a:tbl>
              <a:tblPr/>
              <a:tblGrid>
                <a:gridCol w="67722">
                  <a:extLst>
                    <a:ext uri="{9D8B030D-6E8A-4147-A177-3AD203B41FA5}">
                      <a16:colId xmlns:a16="http://schemas.microsoft.com/office/drawing/2014/main" val="3098354302"/>
                    </a:ext>
                  </a:extLst>
                </a:gridCol>
                <a:gridCol w="67722">
                  <a:extLst>
                    <a:ext uri="{9D8B030D-6E8A-4147-A177-3AD203B41FA5}">
                      <a16:colId xmlns:a16="http://schemas.microsoft.com/office/drawing/2014/main" val="2070193326"/>
                    </a:ext>
                  </a:extLst>
                </a:gridCol>
                <a:gridCol w="67722">
                  <a:extLst>
                    <a:ext uri="{9D8B030D-6E8A-4147-A177-3AD203B41FA5}">
                      <a16:colId xmlns:a16="http://schemas.microsoft.com/office/drawing/2014/main" val="3132485683"/>
                    </a:ext>
                  </a:extLst>
                </a:gridCol>
              </a:tblGrid>
              <a:tr h="7070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it-IT" sz="8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218772"/>
                  </a:ext>
                </a:extLst>
              </a:tr>
              <a:tr h="241427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229571"/>
                  </a:ext>
                </a:extLst>
              </a:tr>
              <a:tr h="256947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ES" sz="8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190484"/>
                  </a:ext>
                </a:extLst>
              </a:tr>
              <a:tr h="210386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8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467" marR="6467" marT="4311" marB="43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97694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0E6D521-53C1-E24D-9C7A-0410A20F4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072034"/>
              </p:ext>
            </p:extLst>
          </p:nvPr>
        </p:nvGraphicFramePr>
        <p:xfrm>
          <a:off x="132422" y="282575"/>
          <a:ext cx="434334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783">
                  <a:extLst>
                    <a:ext uri="{9D8B030D-6E8A-4147-A177-3AD203B41FA5}">
                      <a16:colId xmlns:a16="http://schemas.microsoft.com/office/drawing/2014/main" val="1106966496"/>
                    </a:ext>
                  </a:extLst>
                </a:gridCol>
                <a:gridCol w="1447783">
                  <a:extLst>
                    <a:ext uri="{9D8B030D-6E8A-4147-A177-3AD203B41FA5}">
                      <a16:colId xmlns:a16="http://schemas.microsoft.com/office/drawing/2014/main" val="1757907487"/>
                    </a:ext>
                  </a:extLst>
                </a:gridCol>
                <a:gridCol w="1447783">
                  <a:extLst>
                    <a:ext uri="{9D8B030D-6E8A-4147-A177-3AD203B41FA5}">
                      <a16:colId xmlns:a16="http://schemas.microsoft.com/office/drawing/2014/main" val="678175356"/>
                    </a:ext>
                  </a:extLst>
                </a:gridCol>
              </a:tblGrid>
              <a:tr h="351503">
                <a:tc>
                  <a:txBody>
                    <a:bodyPr/>
                    <a:lstStyle/>
                    <a:p>
                      <a:r>
                        <a:rPr lang="en-US" sz="800" dirty="0"/>
                        <a:t>Ce a </a:t>
                      </a:r>
                      <a:r>
                        <a:rPr lang="en-US" sz="800" dirty="0" err="1"/>
                        <a:t>scris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utilizatorul</a:t>
                      </a:r>
                      <a:r>
                        <a:rPr lang="en-US" sz="800" dirty="0"/>
                        <a:t> (Input)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Ce a </a:t>
                      </a:r>
                      <a:r>
                        <a:rPr lang="en-US" sz="800" dirty="0" err="1"/>
                        <a:t>înțeles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Sistemul</a:t>
                      </a:r>
                      <a:endParaRPr lang="en-US" sz="800" dirty="0"/>
                    </a:p>
                    <a:p>
                      <a:r>
                        <a:rPr lang="en-US" sz="800" dirty="0"/>
                        <a:t>(Debug Meta)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Rezultatul</a:t>
                      </a:r>
                      <a:r>
                        <a:rPr lang="en-US" sz="800" dirty="0"/>
                        <a:t> Final (</a:t>
                      </a:r>
                      <a:r>
                        <a:rPr lang="en-US" sz="800" dirty="0" err="1"/>
                        <a:t>Știrea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afișată</a:t>
                      </a:r>
                      <a:r>
                        <a:rPr lang="en-US" sz="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6828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600" b="1" dirty="0" err="1"/>
                        <a:t>Scenariul</a:t>
                      </a:r>
                      <a:r>
                        <a:rPr lang="en-US" sz="600" b="1" dirty="0"/>
                        <a:t> 1: </a:t>
                      </a:r>
                      <a:r>
                        <a:rPr lang="en-US" sz="600" b="1" dirty="0" err="1"/>
                        <a:t>Simplificare</a:t>
                      </a:r>
                      <a:endParaRPr lang="en-US" sz="600" b="1" dirty="0"/>
                    </a:p>
                    <a:p>
                      <a:endParaRPr lang="en-US" sz="600" b="1" dirty="0"/>
                    </a:p>
                    <a:p>
                      <a:r>
                        <a:rPr lang="en-US" sz="600" dirty="0"/>
                        <a:t>„I am a kid who likes sports. I am not interested in business or technology.”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b="1" dirty="0"/>
                    </a:p>
                    <a:p>
                      <a:r>
                        <a:rPr lang="en-US" sz="600" b="1" dirty="0"/>
                        <a:t>Likes: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["sports"]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Avoids: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["business", "technology"]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Tone: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"friendly"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Detail Level: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"low"</a:t>
                      </a:r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✅ </a:t>
                      </a:r>
                      <a:r>
                        <a:rPr lang="en-US" sz="600" b="1" dirty="0" err="1"/>
                        <a:t>Afișat</a:t>
                      </a:r>
                      <a:r>
                        <a:rPr lang="en-US" sz="600" b="1" dirty="0"/>
                        <a:t>:</a:t>
                      </a:r>
                      <a:r>
                        <a:rPr lang="en-US" sz="600" dirty="0"/>
                        <a:t> „The Evolution of Tactics in Elite Football” (</a:t>
                      </a:r>
                      <a:r>
                        <a:rPr lang="en-US" sz="600" dirty="0" err="1"/>
                        <a:t>Limbaj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simplificat</a:t>
                      </a:r>
                      <a:r>
                        <a:rPr lang="en-US" sz="600" dirty="0"/>
                        <a:t>, </a:t>
                      </a:r>
                      <a:r>
                        <a:rPr lang="en-US" sz="600" dirty="0" err="1"/>
                        <a:t>explicativ</a:t>
                      </a:r>
                      <a:r>
                        <a:rPr lang="en-US" sz="600" dirty="0"/>
                        <a:t>).</a:t>
                      </a:r>
                    </a:p>
                    <a:p>
                      <a:endParaRPr lang="en-US" sz="600" dirty="0"/>
                    </a:p>
                    <a:p>
                      <a:r>
                        <a:rPr lang="en-US" sz="600" dirty="0"/>
                        <a:t>❌ </a:t>
                      </a:r>
                      <a:r>
                        <a:rPr lang="en-US" sz="600" b="1" dirty="0" err="1"/>
                        <a:t>Eliminat</a:t>
                      </a:r>
                      <a:r>
                        <a:rPr lang="en-US" sz="600" b="1" dirty="0"/>
                        <a:t>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Articolele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despre</a:t>
                      </a:r>
                      <a:r>
                        <a:rPr lang="en-US" sz="600" dirty="0"/>
                        <a:t> „Quantization LLMs” (Tech) </a:t>
                      </a:r>
                      <a:r>
                        <a:rPr lang="en-US" sz="600" dirty="0" err="1"/>
                        <a:t>și</a:t>
                      </a:r>
                      <a:r>
                        <a:rPr lang="en-US" sz="600" dirty="0"/>
                        <a:t> „Startups” (Business).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06021"/>
                  </a:ext>
                </a:extLst>
              </a:tr>
              <a:tr h="862781">
                <a:tc>
                  <a:txBody>
                    <a:bodyPr/>
                    <a:lstStyle/>
                    <a:p>
                      <a:r>
                        <a:rPr lang="en-US" sz="600" b="1" dirty="0" err="1"/>
                        <a:t>Scenariul</a:t>
                      </a:r>
                      <a:r>
                        <a:rPr lang="en-US" sz="600" b="1" dirty="0"/>
                        <a:t> 2: </a:t>
                      </a:r>
                      <a:r>
                        <a:rPr lang="en-US" sz="600" b="1" dirty="0" err="1"/>
                        <a:t>Expertiză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dirty="0"/>
                        <a:t>„I am a Computer Science professor; I am passionate about business and technology.”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b="1" dirty="0"/>
                    </a:p>
                    <a:p>
                      <a:r>
                        <a:rPr lang="en-US" sz="600" b="1" dirty="0"/>
                        <a:t>Likes: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["business", "technology"]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Avoids: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[]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Tone: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"neutral"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Detail Level: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"medium"</a:t>
                      </a:r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✅ </a:t>
                      </a:r>
                      <a:r>
                        <a:rPr lang="en-US" sz="600" b="1" dirty="0" err="1"/>
                        <a:t>Afișat</a:t>
                      </a:r>
                      <a:r>
                        <a:rPr lang="en-US" sz="600" b="1" dirty="0"/>
                        <a:t>:</a:t>
                      </a:r>
                      <a:r>
                        <a:rPr lang="en-US" sz="600" dirty="0"/>
                        <a:t> „Quantization makes small LLMs faster...”</a:t>
                      </a:r>
                    </a:p>
                    <a:p>
                      <a:endParaRPr lang="en-US" sz="600" dirty="0"/>
                    </a:p>
                    <a:p>
                      <a:r>
                        <a:rPr lang="en-US" sz="600" dirty="0"/>
                        <a:t>(</a:t>
                      </a:r>
                      <a:r>
                        <a:rPr lang="en-US" sz="600" dirty="0" err="1"/>
                        <a:t>Păstrează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termeni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tehnici</a:t>
                      </a:r>
                      <a:r>
                        <a:rPr lang="en-US" sz="600" dirty="0"/>
                        <a:t>: </a:t>
                      </a:r>
                      <a:r>
                        <a:rPr lang="en-US" sz="600" i="1" dirty="0"/>
                        <a:t>inference, VRAM, float-point</a:t>
                      </a:r>
                      <a:r>
                        <a:rPr lang="en-US" sz="600" dirty="0"/>
                        <a:t>).</a:t>
                      </a:r>
                    </a:p>
                    <a:p>
                      <a:endParaRPr lang="en-US" sz="600" dirty="0"/>
                    </a:p>
                    <a:p>
                      <a:r>
                        <a:rPr lang="en-US" sz="600" dirty="0"/>
                        <a:t>❌ </a:t>
                      </a:r>
                      <a:r>
                        <a:rPr lang="en-US" sz="600" b="1" dirty="0" err="1"/>
                        <a:t>Eliminat</a:t>
                      </a:r>
                      <a:r>
                        <a:rPr lang="en-US" sz="600" b="1" dirty="0"/>
                        <a:t>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Știrile</a:t>
                      </a:r>
                      <a:r>
                        <a:rPr lang="en-US" sz="600" dirty="0"/>
                        <a:t> Sportive.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759271"/>
                  </a:ext>
                </a:extLst>
              </a:tr>
              <a:tr h="766916">
                <a:tc>
                  <a:txBody>
                    <a:bodyPr/>
                    <a:lstStyle/>
                    <a:p>
                      <a:r>
                        <a:rPr lang="en-US" sz="600" b="1" dirty="0" err="1"/>
                        <a:t>Scenariul</a:t>
                      </a:r>
                      <a:r>
                        <a:rPr lang="en-US" sz="600" b="1" dirty="0"/>
                        <a:t> 3: </a:t>
                      </a:r>
                      <a:r>
                        <a:rPr lang="en-US" sz="600" b="1" dirty="0" err="1"/>
                        <a:t>Asociere</a:t>
                      </a:r>
                      <a:r>
                        <a:rPr lang="en-US" sz="600" b="1" dirty="0"/>
                        <a:t> </a:t>
                      </a:r>
                      <a:r>
                        <a:rPr lang="en-US" sz="600" b="1" dirty="0" err="1"/>
                        <a:t>Semantică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dirty="0"/>
                        <a:t>„I am passionate about basketball and technology.”</a:t>
                      </a:r>
                    </a:p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b="1" dirty="0"/>
                        <a:t>Likes: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["basketball", "technology"]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Tone: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"neutral"</a:t>
                      </a:r>
                      <a:endParaRPr lang="en-US" sz="600" dirty="0"/>
                    </a:p>
                    <a:p>
                      <a:endParaRPr lang="en-US" sz="600" dirty="0"/>
                    </a:p>
                    <a:p>
                      <a:r>
                        <a:rPr lang="en-US" sz="600" b="1" dirty="0"/>
                        <a:t>Detail Level: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"unspecified"</a:t>
                      </a:r>
                      <a:endParaRPr lang="en-US" sz="600" dirty="0"/>
                    </a:p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</a:t>
                      </a:r>
                      <a:r>
                        <a:rPr lang="en-US" sz="600" b="1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Afișat</a:t>
                      </a:r>
                      <a:r>
                        <a:rPr lang="en-US" sz="600" b="1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„Quantization...” (Match exact pe Tech).</a:t>
                      </a:r>
                    </a:p>
                    <a:p>
                      <a:endParaRPr lang="en-US" sz="600" dirty="0"/>
                    </a:p>
                    <a:p>
                      <a:r>
                        <a:rPr lang="en-US" sz="6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o-RO" sz="600" b="1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Afișat</a:t>
                      </a:r>
                      <a:r>
                        <a:rPr lang="en-US" sz="600" b="1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6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600" dirty="0"/>
                        <a:t>„Tactics in Football” (A </a:t>
                      </a:r>
                      <a:r>
                        <a:rPr lang="en-US" sz="600" dirty="0" err="1"/>
                        <a:t>dedus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că</a:t>
                      </a:r>
                      <a:r>
                        <a:rPr lang="en-US" sz="600" dirty="0"/>
                        <a:t> </a:t>
                      </a:r>
                      <a:r>
                        <a:rPr lang="en-US" sz="600" i="1" dirty="0"/>
                        <a:t>Basketball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este</a:t>
                      </a:r>
                      <a:r>
                        <a:rPr lang="en-US" sz="600" dirty="0"/>
                        <a:t> un </a:t>
                      </a:r>
                      <a:r>
                        <a:rPr lang="en-US" sz="600" i="1" dirty="0"/>
                        <a:t>Sport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și</a:t>
                      </a:r>
                      <a:r>
                        <a:rPr lang="en-US" sz="600" dirty="0"/>
                        <a:t> a </a:t>
                      </a:r>
                      <a:r>
                        <a:rPr lang="en-US" sz="600" dirty="0" err="1"/>
                        <a:t>livrat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știrea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sportivă</a:t>
                      </a:r>
                      <a:r>
                        <a:rPr lang="en-US" sz="600" dirty="0"/>
                        <a:t> </a:t>
                      </a:r>
                      <a:r>
                        <a:rPr lang="en-US" sz="600" dirty="0" err="1"/>
                        <a:t>disponibilă</a:t>
                      </a:r>
                      <a:r>
                        <a:rPr lang="en-US" sz="600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5062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36130"/>
            <a:ext cx="705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Bibliografie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8469"/>
            <a:ext cx="4608195" cy="107950"/>
          </a:xfrm>
          <a:custGeom>
            <a:avLst/>
            <a:gdLst/>
            <a:ahLst/>
            <a:cxnLst/>
            <a:rect l="l" t="t" r="r" b="b"/>
            <a:pathLst>
              <a:path w="4608195" h="107950">
                <a:moveTo>
                  <a:pt x="4608004" y="0"/>
                </a:moveTo>
                <a:lnTo>
                  <a:pt x="4608004" y="0"/>
                </a:lnTo>
                <a:lnTo>
                  <a:pt x="0" y="0"/>
                </a:lnTo>
                <a:lnTo>
                  <a:pt x="0" y="107530"/>
                </a:lnTo>
                <a:lnTo>
                  <a:pt x="4608004" y="107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EB8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3488474" y="3349927"/>
            <a:ext cx="728979" cy="9682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US" sz="750" spc="-15" baseline="11111" dirty="0"/>
              <a:t>POLITEHNICA</a:t>
            </a:r>
            <a:r>
              <a:rPr lang="en-US" sz="750" spc="120" baseline="11111" dirty="0"/>
              <a:t> </a:t>
            </a:r>
            <a:r>
              <a:rPr lang="en-US" sz="750" spc="-44" baseline="11111" dirty="0" err="1"/>
              <a:t>Bucures</a:t>
            </a:r>
            <a:r>
              <a:rPr lang="en-US" sz="750" spc="-37" baseline="11111" dirty="0" err="1"/>
              <a:t>ti</a:t>
            </a:r>
            <a:endParaRPr lang="en-US" sz="750" baseline="1111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335679" y="3349927"/>
            <a:ext cx="219075" cy="865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16</a:t>
            </a:fld>
            <a:r>
              <a:rPr spc="-5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1</a:t>
            </a:r>
            <a:r>
              <a:rPr lang="en-US" spc="-25" dirty="0"/>
              <a:t>6</a:t>
            </a:r>
            <a:endParaRPr spc="-25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8AB6D29-3A8D-16EB-D349-ABC81F3DF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0" y="899378"/>
            <a:ext cx="3869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Tahoe AI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"Using LLMs to create your personalized news feed"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Medium Article.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TIJER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"AI Based News Summarization Bot"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Paper ID: TIJERA001030.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IJARIIE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"AI Based News Summarization Bot"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Vol-9 Issue-3, 2023.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Keen News Project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Platformă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știri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sintetizate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keen.news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Documentație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Llama 3.1 &amp; 3.2.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Documentation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"Writing a </a:t>
            </a:r>
            <a:r>
              <a:rPr kumimoji="0" lang="en-US" altLang="en-US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Dockerfile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Beginners to Advanced"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198AC-3EF9-699C-0D24-7705D08EE20E}"/>
              </a:ext>
            </a:extLst>
          </p:cNvPr>
          <p:cNvSpPr txBox="1"/>
          <p:nvPr/>
        </p:nvSpPr>
        <p:spPr>
          <a:xfrm>
            <a:off x="-854" y="312562"/>
            <a:ext cx="276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Bibliografie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Referințe</a:t>
            </a:r>
            <a:endParaRPr lang="en-US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1229</Words>
  <Application>Microsoft Office PowerPoint</Application>
  <PresentationFormat>Custom</PresentationFormat>
  <Paragraphs>223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Arial Unicode MS</vt:lpstr>
      <vt:lpstr>Office Theme</vt:lpstr>
      <vt:lpstr>PowerPoint Presentation</vt:lpstr>
      <vt:lpstr>Cuprins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Experimente</vt:lpstr>
      <vt:lpstr>Experimente</vt:lpstr>
      <vt:lpstr>Experimente</vt:lpstr>
      <vt:lpstr>Experimente</vt:lpstr>
      <vt:lpstr>Experimente</vt:lpstr>
      <vt:lpstr>Rezultate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Titlul proiectului</dc:title>
  <dc:subject>Presentation subject</dc:subject>
  <dc:creator>-1cm Autori si coordonatori</dc:creator>
  <cp:lastModifiedBy>ioana nonea</cp:lastModifiedBy>
  <cp:revision>12</cp:revision>
  <dcterms:created xsi:type="dcterms:W3CDTF">2026-01-11T17:37:57Z</dcterms:created>
  <dcterms:modified xsi:type="dcterms:W3CDTF">2026-01-12T10:05:48Z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2026-01-11T00:00:00Z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